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2"/>
  </p:notesMasterIdLst>
  <p:sldIdLst>
    <p:sldId id="256" r:id="rId2"/>
    <p:sldId id="301" r:id="rId3"/>
    <p:sldId id="257" r:id="rId4"/>
    <p:sldId id="272" r:id="rId5"/>
    <p:sldId id="302" r:id="rId6"/>
    <p:sldId id="280" r:id="rId7"/>
    <p:sldId id="274" r:id="rId8"/>
    <p:sldId id="285" r:id="rId9"/>
    <p:sldId id="273" r:id="rId10"/>
    <p:sldId id="276" r:id="rId11"/>
    <p:sldId id="275" r:id="rId12"/>
    <p:sldId id="281" r:id="rId13"/>
    <p:sldId id="284" r:id="rId14"/>
    <p:sldId id="282" r:id="rId15"/>
    <p:sldId id="283" r:id="rId16"/>
    <p:sldId id="289" r:id="rId17"/>
    <p:sldId id="290" r:id="rId18"/>
    <p:sldId id="291" r:id="rId19"/>
    <p:sldId id="286" r:id="rId20"/>
    <p:sldId id="288" r:id="rId21"/>
    <p:sldId id="287" r:id="rId22"/>
    <p:sldId id="292" r:id="rId23"/>
    <p:sldId id="293" r:id="rId24"/>
    <p:sldId id="294" r:id="rId25"/>
    <p:sldId id="296" r:id="rId26"/>
    <p:sldId id="295" r:id="rId27"/>
    <p:sldId id="297" r:id="rId28"/>
    <p:sldId id="299" r:id="rId29"/>
    <p:sldId id="300" r:id="rId30"/>
    <p:sldId id="298" r:id="rId31"/>
  </p:sldIdLst>
  <p:sldSz cx="12192000" cy="6858000"/>
  <p:notesSz cx="6858000" cy="9144000"/>
  <p:defaultTextStyle>
    <a:defPPr>
      <a:defRPr lang="da-DK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3C2FFA5D-87B4-456A-9821-1D502468CF0F}" styleName="Tema til typografi 1 - Markering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69012ECD-51FC-41F1-AA8D-1B2483CD663E}" styleName="Lyst layout 2 - Markering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>
        <p:scale>
          <a:sx n="77" d="100"/>
          <a:sy n="77" d="100"/>
        </p:scale>
        <p:origin x="912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heme" Target="theme/theme1.xml"/><Relationship Id="rId8" Type="http://schemas.openxmlformats.org/officeDocument/2006/relationships/slide" Target="slides/slide7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FB0694DE-DFD6-45BA-B184-A9E32E281C34}" type="doc">
      <dgm:prSet loTypeId="urn:microsoft.com/office/officeart/2008/layout/LinedList" loCatId="list" qsTypeId="urn:microsoft.com/office/officeart/2005/8/quickstyle/simple1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E4ACCCF7-AF99-48E7-AB2C-561A737DD18B}">
      <dgm:prSet/>
      <dgm:spPr/>
      <dgm:t>
        <a:bodyPr/>
        <a:lstStyle/>
        <a:p>
          <a:r>
            <a:rPr lang="en-US" dirty="0"/>
            <a:t>Test </a:t>
          </a:r>
          <a:r>
            <a:rPr lang="en-US" dirty="0" err="1"/>
            <a:t>af</a:t>
          </a:r>
          <a:r>
            <a:rPr lang="en-US" dirty="0"/>
            <a:t> </a:t>
          </a:r>
          <a:r>
            <a:rPr lang="en-US" dirty="0" err="1"/>
            <a:t>normalfordeling</a:t>
          </a:r>
          <a:endParaRPr lang="en-US" dirty="0"/>
        </a:p>
      </dgm:t>
    </dgm:pt>
    <dgm:pt modelId="{4382DE98-1319-4636-A391-97B5C6FCFCF3}" type="parTrans" cxnId="{40CC3D9A-6145-4913-9658-71A8393E60BD}">
      <dgm:prSet/>
      <dgm:spPr/>
      <dgm:t>
        <a:bodyPr/>
        <a:lstStyle/>
        <a:p>
          <a:endParaRPr lang="en-US"/>
        </a:p>
      </dgm:t>
    </dgm:pt>
    <dgm:pt modelId="{4BA8D7B1-2995-4441-A216-B3B9AA2CF105}" type="sibTrans" cxnId="{40CC3D9A-6145-4913-9658-71A8393E60BD}">
      <dgm:prSet/>
      <dgm:spPr/>
      <dgm:t>
        <a:bodyPr/>
        <a:lstStyle/>
        <a:p>
          <a:endParaRPr lang="en-US"/>
        </a:p>
      </dgm:t>
    </dgm:pt>
    <dgm:pt modelId="{3527EB05-C699-4F72-B42E-20D39F4630C9}">
      <dgm:prSet/>
      <dgm:spPr/>
      <dgm:t>
        <a:bodyPr/>
        <a:lstStyle/>
        <a:p>
          <a:r>
            <a:rPr lang="en-US" dirty="0"/>
            <a:t>De </a:t>
          </a:r>
          <a:r>
            <a:rPr lang="en-US" dirty="0" err="1"/>
            <a:t>mest</a:t>
          </a:r>
          <a:r>
            <a:rPr lang="en-US" dirty="0"/>
            <a:t> </a:t>
          </a:r>
          <a:r>
            <a:rPr lang="en-US" dirty="0" err="1"/>
            <a:t>almindelige</a:t>
          </a:r>
          <a:r>
            <a:rPr lang="en-US" dirty="0"/>
            <a:t> </a:t>
          </a:r>
          <a:r>
            <a:rPr lang="en-US" dirty="0" err="1"/>
            <a:t>hypotesetests</a:t>
          </a:r>
          <a:endParaRPr lang="en-US" dirty="0"/>
        </a:p>
      </dgm:t>
    </dgm:pt>
    <dgm:pt modelId="{1EDDF355-8E45-463B-BA00-1F9EEC141276}" type="parTrans" cxnId="{B4872E7C-8C0C-43DC-AADC-F7D92AD106C1}">
      <dgm:prSet/>
      <dgm:spPr/>
      <dgm:t>
        <a:bodyPr/>
        <a:lstStyle/>
        <a:p>
          <a:endParaRPr lang="en-US"/>
        </a:p>
      </dgm:t>
    </dgm:pt>
    <dgm:pt modelId="{99F8B573-13C7-4787-BC7B-7515B93426F0}" type="sibTrans" cxnId="{B4872E7C-8C0C-43DC-AADC-F7D92AD106C1}">
      <dgm:prSet/>
      <dgm:spPr/>
      <dgm:t>
        <a:bodyPr/>
        <a:lstStyle/>
        <a:p>
          <a:endParaRPr lang="en-US"/>
        </a:p>
      </dgm:t>
    </dgm:pt>
    <dgm:pt modelId="{38880B31-6335-4AF7-8693-8A95DA29121C}">
      <dgm:prSet/>
      <dgm:spPr/>
      <dgm:t>
        <a:bodyPr/>
        <a:lstStyle/>
        <a:p>
          <a:r>
            <a:rPr lang="en-US" dirty="0"/>
            <a:t>“Table 1”  </a:t>
          </a:r>
        </a:p>
      </dgm:t>
    </dgm:pt>
    <dgm:pt modelId="{51466B11-193A-4AA3-9EC1-A8FA7AB45997}" type="parTrans" cxnId="{E8ED48AB-3F97-4687-890D-58405B6FB8F5}">
      <dgm:prSet/>
      <dgm:spPr/>
      <dgm:t>
        <a:bodyPr/>
        <a:lstStyle/>
        <a:p>
          <a:endParaRPr lang="en-US"/>
        </a:p>
      </dgm:t>
    </dgm:pt>
    <dgm:pt modelId="{80591FC5-85B4-4337-A799-BA35354C874F}" type="sibTrans" cxnId="{E8ED48AB-3F97-4687-890D-58405B6FB8F5}">
      <dgm:prSet/>
      <dgm:spPr/>
      <dgm:t>
        <a:bodyPr/>
        <a:lstStyle/>
        <a:p>
          <a:endParaRPr lang="en-US"/>
        </a:p>
      </dgm:t>
    </dgm:pt>
    <dgm:pt modelId="{5F8A560E-F6DD-4254-AF73-A5259FADD990}">
      <dgm:prSet/>
      <dgm:spPr/>
      <dgm:t>
        <a:bodyPr/>
        <a:lstStyle/>
        <a:p>
          <a:r>
            <a:rPr lang="en-US" dirty="0" err="1"/>
            <a:t>Eksport</a:t>
          </a:r>
          <a:r>
            <a:rPr lang="en-US" dirty="0"/>
            <a:t> </a:t>
          </a:r>
          <a:r>
            <a:rPr lang="en-US" dirty="0" err="1"/>
            <a:t>og</a:t>
          </a:r>
          <a:r>
            <a:rPr lang="en-US" dirty="0"/>
            <a:t> </a:t>
          </a:r>
          <a:r>
            <a:rPr lang="en-US" dirty="0" err="1"/>
            <a:t>gemme</a:t>
          </a:r>
          <a:r>
            <a:rPr lang="en-US" dirty="0"/>
            <a:t> </a:t>
          </a:r>
          <a:r>
            <a:rPr lang="en-US" dirty="0" err="1"/>
            <a:t>resultater</a:t>
          </a:r>
          <a:r>
            <a:rPr lang="en-US" dirty="0"/>
            <a:t> </a:t>
          </a:r>
        </a:p>
      </dgm:t>
    </dgm:pt>
    <dgm:pt modelId="{7D3519B5-DB5A-4E72-B6E0-2E445F3A1FBA}" type="parTrans" cxnId="{DCEA42F1-3763-494D-9A97-4A0B1EF1464F}">
      <dgm:prSet/>
      <dgm:spPr/>
      <dgm:t>
        <a:bodyPr/>
        <a:lstStyle/>
        <a:p>
          <a:endParaRPr lang="en-US"/>
        </a:p>
      </dgm:t>
    </dgm:pt>
    <dgm:pt modelId="{E9BDD97C-F395-4DD8-89D9-46331EA24A65}" type="sibTrans" cxnId="{DCEA42F1-3763-494D-9A97-4A0B1EF1464F}">
      <dgm:prSet/>
      <dgm:spPr/>
      <dgm:t>
        <a:bodyPr/>
        <a:lstStyle/>
        <a:p>
          <a:endParaRPr lang="en-US"/>
        </a:p>
      </dgm:t>
    </dgm:pt>
    <dgm:pt modelId="{E51C441C-DD9F-4E3B-9DB4-7EA3A6001EFA}">
      <dgm:prSet/>
      <dgm:spPr/>
      <dgm:t>
        <a:bodyPr/>
        <a:lstStyle/>
        <a:p>
          <a:r>
            <a:rPr lang="en-US" dirty="0" err="1"/>
            <a:t>Publisering</a:t>
          </a:r>
          <a:r>
            <a:rPr lang="en-US" dirty="0"/>
            <a:t> </a:t>
          </a:r>
          <a:r>
            <a:rPr lang="en-US" dirty="0" err="1"/>
            <a:t>af</a:t>
          </a:r>
          <a:r>
            <a:rPr lang="en-US" dirty="0"/>
            <a:t> </a:t>
          </a:r>
          <a:r>
            <a:rPr lang="en-US" dirty="0" err="1"/>
            <a:t>statistik</a:t>
          </a:r>
          <a:r>
            <a:rPr lang="en-US" dirty="0"/>
            <a:t> </a:t>
          </a:r>
          <a:r>
            <a:rPr lang="en-US" dirty="0" err="1"/>
            <a:t>koder</a:t>
          </a:r>
          <a:r>
            <a:rPr lang="en-US" dirty="0"/>
            <a:t> </a:t>
          </a:r>
        </a:p>
      </dgm:t>
    </dgm:pt>
    <dgm:pt modelId="{570245CF-D495-4915-AC58-6CC430274C59}" type="parTrans" cxnId="{F75F651B-FF07-407B-9D6D-A73F876EAC36}">
      <dgm:prSet/>
      <dgm:spPr/>
      <dgm:t>
        <a:bodyPr/>
        <a:lstStyle/>
        <a:p>
          <a:endParaRPr lang="en-US"/>
        </a:p>
      </dgm:t>
    </dgm:pt>
    <dgm:pt modelId="{A20D259C-8F27-40E1-A75B-32BCAA6A05AA}" type="sibTrans" cxnId="{F75F651B-FF07-407B-9D6D-A73F876EAC36}">
      <dgm:prSet/>
      <dgm:spPr/>
      <dgm:t>
        <a:bodyPr/>
        <a:lstStyle/>
        <a:p>
          <a:endParaRPr lang="en-US"/>
        </a:p>
      </dgm:t>
    </dgm:pt>
    <dgm:pt modelId="{16688A05-8CD1-422C-8D4B-754C457A9677}">
      <dgm:prSet/>
      <dgm:spPr/>
      <dgm:t>
        <a:bodyPr/>
        <a:lstStyle/>
        <a:p>
          <a:r>
            <a:rPr lang="en-US" dirty="0"/>
            <a:t>Helt basic </a:t>
          </a:r>
          <a:r>
            <a:rPr lang="en-US" dirty="0" err="1"/>
            <a:t>biostat</a:t>
          </a:r>
          <a:endParaRPr lang="en-US" dirty="0"/>
        </a:p>
      </dgm:t>
    </dgm:pt>
    <dgm:pt modelId="{B83D6EE1-83BF-463F-8783-44D6D3637D9B}" type="parTrans" cxnId="{FDB5A5FC-9BF8-43EF-B6E1-1A40C1288A3B}">
      <dgm:prSet/>
      <dgm:spPr/>
      <dgm:t>
        <a:bodyPr/>
        <a:lstStyle/>
        <a:p>
          <a:endParaRPr lang="da-DK"/>
        </a:p>
      </dgm:t>
    </dgm:pt>
    <dgm:pt modelId="{172E18A5-9BE4-4CB1-9165-70B154AD6A8F}" type="sibTrans" cxnId="{FDB5A5FC-9BF8-43EF-B6E1-1A40C1288A3B}">
      <dgm:prSet/>
      <dgm:spPr/>
      <dgm:t>
        <a:bodyPr/>
        <a:lstStyle/>
        <a:p>
          <a:endParaRPr lang="da-DK"/>
        </a:p>
      </dgm:t>
    </dgm:pt>
    <dgm:pt modelId="{CD3C00BB-0D2D-4D6A-9950-E3A06AD4FC07}">
      <dgm:prSet/>
      <dgm:spPr/>
      <dgm:t>
        <a:bodyPr/>
        <a:lstStyle/>
        <a:p>
          <a:r>
            <a:rPr lang="en-US" dirty="0" err="1"/>
            <a:t>Spise</a:t>
          </a:r>
          <a:r>
            <a:rPr lang="en-US" dirty="0"/>
            <a:t> pause</a:t>
          </a:r>
        </a:p>
      </dgm:t>
    </dgm:pt>
    <dgm:pt modelId="{6421F028-5D7D-4CBE-8154-222B422E7DB3}" type="sibTrans" cxnId="{61263210-C965-4496-9ED8-78699BD0F2E2}">
      <dgm:prSet/>
      <dgm:spPr/>
      <dgm:t>
        <a:bodyPr/>
        <a:lstStyle/>
        <a:p>
          <a:endParaRPr lang="en-US"/>
        </a:p>
      </dgm:t>
    </dgm:pt>
    <dgm:pt modelId="{057A87B9-7F96-45DA-B38E-58F973C7F00E}" type="parTrans" cxnId="{61263210-C965-4496-9ED8-78699BD0F2E2}">
      <dgm:prSet/>
      <dgm:spPr/>
      <dgm:t>
        <a:bodyPr/>
        <a:lstStyle/>
        <a:p>
          <a:endParaRPr lang="en-US"/>
        </a:p>
      </dgm:t>
    </dgm:pt>
    <dgm:pt modelId="{BE46ED6D-D95F-4C62-9B0D-98F60E4C8ED5}" type="pres">
      <dgm:prSet presAssocID="{FB0694DE-DFD6-45BA-B184-A9E32E281C34}" presName="vert0" presStyleCnt="0">
        <dgm:presLayoutVars>
          <dgm:dir/>
          <dgm:animOne val="branch"/>
          <dgm:animLvl val="lvl"/>
        </dgm:presLayoutVars>
      </dgm:prSet>
      <dgm:spPr/>
    </dgm:pt>
    <dgm:pt modelId="{497F461D-EC6E-4179-927F-0C6AD93CBEAB}" type="pres">
      <dgm:prSet presAssocID="{16688A05-8CD1-422C-8D4B-754C457A9677}" presName="thickLine" presStyleLbl="alignNode1" presStyleIdx="0" presStyleCnt="7"/>
      <dgm:spPr/>
    </dgm:pt>
    <dgm:pt modelId="{300E4385-5189-4F6E-AFCA-6B3A01557297}" type="pres">
      <dgm:prSet presAssocID="{16688A05-8CD1-422C-8D4B-754C457A9677}" presName="horz1" presStyleCnt="0"/>
      <dgm:spPr/>
    </dgm:pt>
    <dgm:pt modelId="{6452D1B0-0F1F-4D43-8FF9-638585DFAE99}" type="pres">
      <dgm:prSet presAssocID="{16688A05-8CD1-422C-8D4B-754C457A9677}" presName="tx1" presStyleLbl="revTx" presStyleIdx="0" presStyleCnt="7"/>
      <dgm:spPr/>
    </dgm:pt>
    <dgm:pt modelId="{D500BA6E-E356-460C-B62D-516BE4F9C830}" type="pres">
      <dgm:prSet presAssocID="{16688A05-8CD1-422C-8D4B-754C457A9677}" presName="vert1" presStyleCnt="0"/>
      <dgm:spPr/>
    </dgm:pt>
    <dgm:pt modelId="{6D4E6855-10F1-4E4B-86F6-9420AEA4B5BC}" type="pres">
      <dgm:prSet presAssocID="{E4ACCCF7-AF99-48E7-AB2C-561A737DD18B}" presName="thickLine" presStyleLbl="alignNode1" presStyleIdx="1" presStyleCnt="7"/>
      <dgm:spPr/>
    </dgm:pt>
    <dgm:pt modelId="{925F6481-506F-4CA9-86C9-113872E0964C}" type="pres">
      <dgm:prSet presAssocID="{E4ACCCF7-AF99-48E7-AB2C-561A737DD18B}" presName="horz1" presStyleCnt="0"/>
      <dgm:spPr/>
    </dgm:pt>
    <dgm:pt modelId="{5FFDCD4C-7A1F-4C60-8BC4-AA16B12E29F2}" type="pres">
      <dgm:prSet presAssocID="{E4ACCCF7-AF99-48E7-AB2C-561A737DD18B}" presName="tx1" presStyleLbl="revTx" presStyleIdx="1" presStyleCnt="7"/>
      <dgm:spPr/>
    </dgm:pt>
    <dgm:pt modelId="{F9A8DF34-2695-4A2F-90EF-5C4A196924E9}" type="pres">
      <dgm:prSet presAssocID="{E4ACCCF7-AF99-48E7-AB2C-561A737DD18B}" presName="vert1" presStyleCnt="0"/>
      <dgm:spPr/>
    </dgm:pt>
    <dgm:pt modelId="{CD3C9203-DAE0-4D0C-BF9D-D55D55B76D8D}" type="pres">
      <dgm:prSet presAssocID="{3527EB05-C699-4F72-B42E-20D39F4630C9}" presName="thickLine" presStyleLbl="alignNode1" presStyleIdx="2" presStyleCnt="7"/>
      <dgm:spPr/>
    </dgm:pt>
    <dgm:pt modelId="{E252B961-A896-4289-B48A-265BE689B7C2}" type="pres">
      <dgm:prSet presAssocID="{3527EB05-C699-4F72-B42E-20D39F4630C9}" presName="horz1" presStyleCnt="0"/>
      <dgm:spPr/>
    </dgm:pt>
    <dgm:pt modelId="{ABCB087D-C304-42B5-B7B0-BE2EB5CD28A0}" type="pres">
      <dgm:prSet presAssocID="{3527EB05-C699-4F72-B42E-20D39F4630C9}" presName="tx1" presStyleLbl="revTx" presStyleIdx="2" presStyleCnt="7"/>
      <dgm:spPr/>
    </dgm:pt>
    <dgm:pt modelId="{01B56628-D5B0-4D9B-A9BD-56F0096D220E}" type="pres">
      <dgm:prSet presAssocID="{3527EB05-C699-4F72-B42E-20D39F4630C9}" presName="vert1" presStyleCnt="0"/>
      <dgm:spPr/>
    </dgm:pt>
    <dgm:pt modelId="{DBAAC0A5-4BE0-4198-A670-C41F5AA2C64A}" type="pres">
      <dgm:prSet presAssocID="{CD3C00BB-0D2D-4D6A-9950-E3A06AD4FC07}" presName="thickLine" presStyleLbl="alignNode1" presStyleIdx="3" presStyleCnt="7"/>
      <dgm:spPr/>
    </dgm:pt>
    <dgm:pt modelId="{4BCCDB29-63FB-4941-B8CB-36C31775691D}" type="pres">
      <dgm:prSet presAssocID="{CD3C00BB-0D2D-4D6A-9950-E3A06AD4FC07}" presName="horz1" presStyleCnt="0"/>
      <dgm:spPr/>
    </dgm:pt>
    <dgm:pt modelId="{8712898D-FEE3-49BD-883B-3FA1892C584E}" type="pres">
      <dgm:prSet presAssocID="{CD3C00BB-0D2D-4D6A-9950-E3A06AD4FC07}" presName="tx1" presStyleLbl="revTx" presStyleIdx="3" presStyleCnt="7"/>
      <dgm:spPr/>
    </dgm:pt>
    <dgm:pt modelId="{B25B7D02-C018-4000-B7E6-53AF2983D544}" type="pres">
      <dgm:prSet presAssocID="{CD3C00BB-0D2D-4D6A-9950-E3A06AD4FC07}" presName="vert1" presStyleCnt="0"/>
      <dgm:spPr/>
    </dgm:pt>
    <dgm:pt modelId="{911A70AB-5E9A-4DF8-A39B-960757FE3BCB}" type="pres">
      <dgm:prSet presAssocID="{38880B31-6335-4AF7-8693-8A95DA29121C}" presName="thickLine" presStyleLbl="alignNode1" presStyleIdx="4" presStyleCnt="7"/>
      <dgm:spPr/>
    </dgm:pt>
    <dgm:pt modelId="{30940C09-D36B-4121-BB7F-E169A6BC896C}" type="pres">
      <dgm:prSet presAssocID="{38880B31-6335-4AF7-8693-8A95DA29121C}" presName="horz1" presStyleCnt="0"/>
      <dgm:spPr/>
    </dgm:pt>
    <dgm:pt modelId="{2AAA0AD9-6DE0-4676-AA2D-39949CBB9021}" type="pres">
      <dgm:prSet presAssocID="{38880B31-6335-4AF7-8693-8A95DA29121C}" presName="tx1" presStyleLbl="revTx" presStyleIdx="4" presStyleCnt="7"/>
      <dgm:spPr/>
    </dgm:pt>
    <dgm:pt modelId="{1F4E83D4-14E0-4848-80A3-48891FD34568}" type="pres">
      <dgm:prSet presAssocID="{38880B31-6335-4AF7-8693-8A95DA29121C}" presName="vert1" presStyleCnt="0"/>
      <dgm:spPr/>
    </dgm:pt>
    <dgm:pt modelId="{18D39591-C8CB-477A-B24A-70531F1AE3D0}" type="pres">
      <dgm:prSet presAssocID="{5F8A560E-F6DD-4254-AF73-A5259FADD990}" presName="thickLine" presStyleLbl="alignNode1" presStyleIdx="5" presStyleCnt="7"/>
      <dgm:spPr/>
    </dgm:pt>
    <dgm:pt modelId="{FB118834-1620-4C75-A26A-D50BFA69B9C1}" type="pres">
      <dgm:prSet presAssocID="{5F8A560E-F6DD-4254-AF73-A5259FADD990}" presName="horz1" presStyleCnt="0"/>
      <dgm:spPr/>
    </dgm:pt>
    <dgm:pt modelId="{929CB212-6DAA-4A10-B729-94E1FD65CBAD}" type="pres">
      <dgm:prSet presAssocID="{5F8A560E-F6DD-4254-AF73-A5259FADD990}" presName="tx1" presStyleLbl="revTx" presStyleIdx="5" presStyleCnt="7"/>
      <dgm:spPr/>
    </dgm:pt>
    <dgm:pt modelId="{F0FDFFC8-CF37-4ADE-A1CD-038CAE4FAC6A}" type="pres">
      <dgm:prSet presAssocID="{5F8A560E-F6DD-4254-AF73-A5259FADD990}" presName="vert1" presStyleCnt="0"/>
      <dgm:spPr/>
    </dgm:pt>
    <dgm:pt modelId="{171725A7-A228-46AC-B73D-550B0E628AC3}" type="pres">
      <dgm:prSet presAssocID="{E51C441C-DD9F-4E3B-9DB4-7EA3A6001EFA}" presName="thickLine" presStyleLbl="alignNode1" presStyleIdx="6" presStyleCnt="7"/>
      <dgm:spPr/>
    </dgm:pt>
    <dgm:pt modelId="{AE0B1B25-94C7-4F34-8BCB-B177C22FA0D4}" type="pres">
      <dgm:prSet presAssocID="{E51C441C-DD9F-4E3B-9DB4-7EA3A6001EFA}" presName="horz1" presStyleCnt="0"/>
      <dgm:spPr/>
    </dgm:pt>
    <dgm:pt modelId="{F3E97B70-D60C-4FDB-97DF-88BF5DE7CAA2}" type="pres">
      <dgm:prSet presAssocID="{E51C441C-DD9F-4E3B-9DB4-7EA3A6001EFA}" presName="tx1" presStyleLbl="revTx" presStyleIdx="6" presStyleCnt="7"/>
      <dgm:spPr/>
    </dgm:pt>
    <dgm:pt modelId="{735ECF1D-A152-484A-96FD-67BA82E562BB}" type="pres">
      <dgm:prSet presAssocID="{E51C441C-DD9F-4E3B-9DB4-7EA3A6001EFA}" presName="vert1" presStyleCnt="0"/>
      <dgm:spPr/>
    </dgm:pt>
  </dgm:ptLst>
  <dgm:cxnLst>
    <dgm:cxn modelId="{5D837F0D-D538-418D-AEED-F4C502C8C74E}" type="presOf" srcId="{5F8A560E-F6DD-4254-AF73-A5259FADD990}" destId="{929CB212-6DAA-4A10-B729-94E1FD65CBAD}" srcOrd="0" destOrd="0" presId="urn:microsoft.com/office/officeart/2008/layout/LinedList"/>
    <dgm:cxn modelId="{61263210-C965-4496-9ED8-78699BD0F2E2}" srcId="{FB0694DE-DFD6-45BA-B184-A9E32E281C34}" destId="{CD3C00BB-0D2D-4D6A-9950-E3A06AD4FC07}" srcOrd="3" destOrd="0" parTransId="{057A87B9-7F96-45DA-B38E-58F973C7F00E}" sibTransId="{6421F028-5D7D-4CBE-8154-222B422E7DB3}"/>
    <dgm:cxn modelId="{6C81AD14-8BB2-484E-9EDB-0C0CBCB93B16}" type="presOf" srcId="{CD3C00BB-0D2D-4D6A-9950-E3A06AD4FC07}" destId="{8712898D-FEE3-49BD-883B-3FA1892C584E}" srcOrd="0" destOrd="0" presId="urn:microsoft.com/office/officeart/2008/layout/LinedList"/>
    <dgm:cxn modelId="{F75F651B-FF07-407B-9D6D-A73F876EAC36}" srcId="{FB0694DE-DFD6-45BA-B184-A9E32E281C34}" destId="{E51C441C-DD9F-4E3B-9DB4-7EA3A6001EFA}" srcOrd="6" destOrd="0" parTransId="{570245CF-D495-4915-AC58-6CC430274C59}" sibTransId="{A20D259C-8F27-40E1-A75B-32BCAA6A05AA}"/>
    <dgm:cxn modelId="{47879B6D-E870-4A4B-8E17-C5EECE054898}" type="presOf" srcId="{38880B31-6335-4AF7-8693-8A95DA29121C}" destId="{2AAA0AD9-6DE0-4676-AA2D-39949CBB9021}" srcOrd="0" destOrd="0" presId="urn:microsoft.com/office/officeart/2008/layout/LinedList"/>
    <dgm:cxn modelId="{43D88853-D341-4B85-9EA1-D35C75C3B811}" type="presOf" srcId="{16688A05-8CD1-422C-8D4B-754C457A9677}" destId="{6452D1B0-0F1F-4D43-8FF9-638585DFAE99}" srcOrd="0" destOrd="0" presId="urn:microsoft.com/office/officeart/2008/layout/LinedList"/>
    <dgm:cxn modelId="{B4872E7C-8C0C-43DC-AADC-F7D92AD106C1}" srcId="{FB0694DE-DFD6-45BA-B184-A9E32E281C34}" destId="{3527EB05-C699-4F72-B42E-20D39F4630C9}" srcOrd="2" destOrd="0" parTransId="{1EDDF355-8E45-463B-BA00-1F9EEC141276}" sibTransId="{99F8B573-13C7-4787-BC7B-7515B93426F0}"/>
    <dgm:cxn modelId="{ABDD698B-E527-4AE9-906C-56158B5A7632}" type="presOf" srcId="{3527EB05-C699-4F72-B42E-20D39F4630C9}" destId="{ABCB087D-C304-42B5-B7B0-BE2EB5CD28A0}" srcOrd="0" destOrd="0" presId="urn:microsoft.com/office/officeart/2008/layout/LinedList"/>
    <dgm:cxn modelId="{40CC3D9A-6145-4913-9658-71A8393E60BD}" srcId="{FB0694DE-DFD6-45BA-B184-A9E32E281C34}" destId="{E4ACCCF7-AF99-48E7-AB2C-561A737DD18B}" srcOrd="1" destOrd="0" parTransId="{4382DE98-1319-4636-A391-97B5C6FCFCF3}" sibTransId="{4BA8D7B1-2995-4441-A216-B3B9AA2CF105}"/>
    <dgm:cxn modelId="{82B263A9-32D9-4310-B2AF-56C55AF300AF}" type="presOf" srcId="{E51C441C-DD9F-4E3B-9DB4-7EA3A6001EFA}" destId="{F3E97B70-D60C-4FDB-97DF-88BF5DE7CAA2}" srcOrd="0" destOrd="0" presId="urn:microsoft.com/office/officeart/2008/layout/LinedList"/>
    <dgm:cxn modelId="{E8ED48AB-3F97-4687-890D-58405B6FB8F5}" srcId="{FB0694DE-DFD6-45BA-B184-A9E32E281C34}" destId="{38880B31-6335-4AF7-8693-8A95DA29121C}" srcOrd="4" destOrd="0" parTransId="{51466B11-193A-4AA3-9EC1-A8FA7AB45997}" sibTransId="{80591FC5-85B4-4337-A799-BA35354C874F}"/>
    <dgm:cxn modelId="{A2373CE8-E9C0-404F-BC7F-6EB79F185D62}" type="presOf" srcId="{FB0694DE-DFD6-45BA-B184-A9E32E281C34}" destId="{BE46ED6D-D95F-4C62-9B0D-98F60E4C8ED5}" srcOrd="0" destOrd="0" presId="urn:microsoft.com/office/officeart/2008/layout/LinedList"/>
    <dgm:cxn modelId="{DCEA42F1-3763-494D-9A97-4A0B1EF1464F}" srcId="{FB0694DE-DFD6-45BA-B184-A9E32E281C34}" destId="{5F8A560E-F6DD-4254-AF73-A5259FADD990}" srcOrd="5" destOrd="0" parTransId="{7D3519B5-DB5A-4E72-B6E0-2E445F3A1FBA}" sibTransId="{E9BDD97C-F395-4DD8-89D9-46331EA24A65}"/>
    <dgm:cxn modelId="{7243E6FB-C209-4C7E-A35E-E497D41CCEDE}" type="presOf" srcId="{E4ACCCF7-AF99-48E7-AB2C-561A737DD18B}" destId="{5FFDCD4C-7A1F-4C60-8BC4-AA16B12E29F2}" srcOrd="0" destOrd="0" presId="urn:microsoft.com/office/officeart/2008/layout/LinedList"/>
    <dgm:cxn modelId="{FDB5A5FC-9BF8-43EF-B6E1-1A40C1288A3B}" srcId="{FB0694DE-DFD6-45BA-B184-A9E32E281C34}" destId="{16688A05-8CD1-422C-8D4B-754C457A9677}" srcOrd="0" destOrd="0" parTransId="{B83D6EE1-83BF-463F-8783-44D6D3637D9B}" sibTransId="{172E18A5-9BE4-4CB1-9165-70B154AD6A8F}"/>
    <dgm:cxn modelId="{043D36E0-0A5D-42D4-8BC2-AF3F3AFAFA68}" type="presParOf" srcId="{BE46ED6D-D95F-4C62-9B0D-98F60E4C8ED5}" destId="{497F461D-EC6E-4179-927F-0C6AD93CBEAB}" srcOrd="0" destOrd="0" presId="urn:microsoft.com/office/officeart/2008/layout/LinedList"/>
    <dgm:cxn modelId="{2DF741DD-0CA7-4B37-93B2-28E52EE82ADD}" type="presParOf" srcId="{BE46ED6D-D95F-4C62-9B0D-98F60E4C8ED5}" destId="{300E4385-5189-4F6E-AFCA-6B3A01557297}" srcOrd="1" destOrd="0" presId="urn:microsoft.com/office/officeart/2008/layout/LinedList"/>
    <dgm:cxn modelId="{81D8C7A3-37A1-41B9-BAAF-4DDD77D9144C}" type="presParOf" srcId="{300E4385-5189-4F6E-AFCA-6B3A01557297}" destId="{6452D1B0-0F1F-4D43-8FF9-638585DFAE99}" srcOrd="0" destOrd="0" presId="urn:microsoft.com/office/officeart/2008/layout/LinedList"/>
    <dgm:cxn modelId="{0AC450FA-5BAF-4F6D-8D98-6D5D2697EB60}" type="presParOf" srcId="{300E4385-5189-4F6E-AFCA-6B3A01557297}" destId="{D500BA6E-E356-460C-B62D-516BE4F9C830}" srcOrd="1" destOrd="0" presId="urn:microsoft.com/office/officeart/2008/layout/LinedList"/>
    <dgm:cxn modelId="{F7D7DEEC-5584-4EB6-B5C2-5B7274F2F132}" type="presParOf" srcId="{BE46ED6D-D95F-4C62-9B0D-98F60E4C8ED5}" destId="{6D4E6855-10F1-4E4B-86F6-9420AEA4B5BC}" srcOrd="2" destOrd="0" presId="urn:microsoft.com/office/officeart/2008/layout/LinedList"/>
    <dgm:cxn modelId="{1CF404A7-C73F-4DC3-A472-8A93F2630F76}" type="presParOf" srcId="{BE46ED6D-D95F-4C62-9B0D-98F60E4C8ED5}" destId="{925F6481-506F-4CA9-86C9-113872E0964C}" srcOrd="3" destOrd="0" presId="urn:microsoft.com/office/officeart/2008/layout/LinedList"/>
    <dgm:cxn modelId="{F5470B52-D668-48C9-A9D0-9D061C0AF05E}" type="presParOf" srcId="{925F6481-506F-4CA9-86C9-113872E0964C}" destId="{5FFDCD4C-7A1F-4C60-8BC4-AA16B12E29F2}" srcOrd="0" destOrd="0" presId="urn:microsoft.com/office/officeart/2008/layout/LinedList"/>
    <dgm:cxn modelId="{FAE9D506-4180-420B-9F20-7A64666B2A6F}" type="presParOf" srcId="{925F6481-506F-4CA9-86C9-113872E0964C}" destId="{F9A8DF34-2695-4A2F-90EF-5C4A196924E9}" srcOrd="1" destOrd="0" presId="urn:microsoft.com/office/officeart/2008/layout/LinedList"/>
    <dgm:cxn modelId="{BAC448EB-8FF3-4BC2-9540-629FE00BD542}" type="presParOf" srcId="{BE46ED6D-D95F-4C62-9B0D-98F60E4C8ED5}" destId="{CD3C9203-DAE0-4D0C-BF9D-D55D55B76D8D}" srcOrd="4" destOrd="0" presId="urn:microsoft.com/office/officeart/2008/layout/LinedList"/>
    <dgm:cxn modelId="{903C0153-831D-4E2B-947E-06CFE69A8C3F}" type="presParOf" srcId="{BE46ED6D-D95F-4C62-9B0D-98F60E4C8ED5}" destId="{E252B961-A896-4289-B48A-265BE689B7C2}" srcOrd="5" destOrd="0" presId="urn:microsoft.com/office/officeart/2008/layout/LinedList"/>
    <dgm:cxn modelId="{E367B23B-348E-4680-B2FC-F9EA86479A7D}" type="presParOf" srcId="{E252B961-A896-4289-B48A-265BE689B7C2}" destId="{ABCB087D-C304-42B5-B7B0-BE2EB5CD28A0}" srcOrd="0" destOrd="0" presId="urn:microsoft.com/office/officeart/2008/layout/LinedList"/>
    <dgm:cxn modelId="{1B0720E3-192B-4355-806C-4D348F1464A0}" type="presParOf" srcId="{E252B961-A896-4289-B48A-265BE689B7C2}" destId="{01B56628-D5B0-4D9B-A9BD-56F0096D220E}" srcOrd="1" destOrd="0" presId="urn:microsoft.com/office/officeart/2008/layout/LinedList"/>
    <dgm:cxn modelId="{CBDC2953-6FD8-47D1-9DFB-8231E1B78E3F}" type="presParOf" srcId="{BE46ED6D-D95F-4C62-9B0D-98F60E4C8ED5}" destId="{DBAAC0A5-4BE0-4198-A670-C41F5AA2C64A}" srcOrd="6" destOrd="0" presId="urn:microsoft.com/office/officeart/2008/layout/LinedList"/>
    <dgm:cxn modelId="{2D9DF66F-6A51-4AE9-8398-5F7A035C369D}" type="presParOf" srcId="{BE46ED6D-D95F-4C62-9B0D-98F60E4C8ED5}" destId="{4BCCDB29-63FB-4941-B8CB-36C31775691D}" srcOrd="7" destOrd="0" presId="urn:microsoft.com/office/officeart/2008/layout/LinedList"/>
    <dgm:cxn modelId="{52931BB9-E126-4930-84DB-64D043E0CE00}" type="presParOf" srcId="{4BCCDB29-63FB-4941-B8CB-36C31775691D}" destId="{8712898D-FEE3-49BD-883B-3FA1892C584E}" srcOrd="0" destOrd="0" presId="urn:microsoft.com/office/officeart/2008/layout/LinedList"/>
    <dgm:cxn modelId="{BF993B12-6CC7-462B-87BA-2B52098D51CE}" type="presParOf" srcId="{4BCCDB29-63FB-4941-B8CB-36C31775691D}" destId="{B25B7D02-C018-4000-B7E6-53AF2983D544}" srcOrd="1" destOrd="0" presId="urn:microsoft.com/office/officeart/2008/layout/LinedList"/>
    <dgm:cxn modelId="{A2270727-383A-40F3-A41D-C7BC190CCE4B}" type="presParOf" srcId="{BE46ED6D-D95F-4C62-9B0D-98F60E4C8ED5}" destId="{911A70AB-5E9A-4DF8-A39B-960757FE3BCB}" srcOrd="8" destOrd="0" presId="urn:microsoft.com/office/officeart/2008/layout/LinedList"/>
    <dgm:cxn modelId="{B9D7274E-B57F-4FB3-9D34-4D238D997C4A}" type="presParOf" srcId="{BE46ED6D-D95F-4C62-9B0D-98F60E4C8ED5}" destId="{30940C09-D36B-4121-BB7F-E169A6BC896C}" srcOrd="9" destOrd="0" presId="urn:microsoft.com/office/officeart/2008/layout/LinedList"/>
    <dgm:cxn modelId="{74D02DDE-3293-4492-AE0D-907CC39F818F}" type="presParOf" srcId="{30940C09-D36B-4121-BB7F-E169A6BC896C}" destId="{2AAA0AD9-6DE0-4676-AA2D-39949CBB9021}" srcOrd="0" destOrd="0" presId="urn:microsoft.com/office/officeart/2008/layout/LinedList"/>
    <dgm:cxn modelId="{2264BE38-A26C-42E7-816D-709765CCDFEF}" type="presParOf" srcId="{30940C09-D36B-4121-BB7F-E169A6BC896C}" destId="{1F4E83D4-14E0-4848-80A3-48891FD34568}" srcOrd="1" destOrd="0" presId="urn:microsoft.com/office/officeart/2008/layout/LinedList"/>
    <dgm:cxn modelId="{B807B0C5-ACD5-442D-B09B-A0ADA1BD8178}" type="presParOf" srcId="{BE46ED6D-D95F-4C62-9B0D-98F60E4C8ED5}" destId="{18D39591-C8CB-477A-B24A-70531F1AE3D0}" srcOrd="10" destOrd="0" presId="urn:microsoft.com/office/officeart/2008/layout/LinedList"/>
    <dgm:cxn modelId="{222E298C-B85D-4B03-B7E7-BFB87A0D7C1F}" type="presParOf" srcId="{BE46ED6D-D95F-4C62-9B0D-98F60E4C8ED5}" destId="{FB118834-1620-4C75-A26A-D50BFA69B9C1}" srcOrd="11" destOrd="0" presId="urn:microsoft.com/office/officeart/2008/layout/LinedList"/>
    <dgm:cxn modelId="{87344097-971C-4A80-9701-C5B0C40829AD}" type="presParOf" srcId="{FB118834-1620-4C75-A26A-D50BFA69B9C1}" destId="{929CB212-6DAA-4A10-B729-94E1FD65CBAD}" srcOrd="0" destOrd="0" presId="urn:microsoft.com/office/officeart/2008/layout/LinedList"/>
    <dgm:cxn modelId="{B603CD79-4126-4600-9751-6EE91E300307}" type="presParOf" srcId="{FB118834-1620-4C75-A26A-D50BFA69B9C1}" destId="{F0FDFFC8-CF37-4ADE-A1CD-038CAE4FAC6A}" srcOrd="1" destOrd="0" presId="urn:microsoft.com/office/officeart/2008/layout/LinedList"/>
    <dgm:cxn modelId="{62BB6469-0081-4320-8EDB-44E205BDBCA8}" type="presParOf" srcId="{BE46ED6D-D95F-4C62-9B0D-98F60E4C8ED5}" destId="{171725A7-A228-46AC-B73D-550B0E628AC3}" srcOrd="12" destOrd="0" presId="urn:microsoft.com/office/officeart/2008/layout/LinedList"/>
    <dgm:cxn modelId="{CB64A679-2FD4-4DD5-9B87-973B3C19F68C}" type="presParOf" srcId="{BE46ED6D-D95F-4C62-9B0D-98F60E4C8ED5}" destId="{AE0B1B25-94C7-4F34-8BCB-B177C22FA0D4}" srcOrd="13" destOrd="0" presId="urn:microsoft.com/office/officeart/2008/layout/LinedList"/>
    <dgm:cxn modelId="{B07EC20F-A78C-4ED7-A429-DF13B0DF6BF6}" type="presParOf" srcId="{AE0B1B25-94C7-4F34-8BCB-B177C22FA0D4}" destId="{F3E97B70-D60C-4FDB-97DF-88BF5DE7CAA2}" srcOrd="0" destOrd="0" presId="urn:microsoft.com/office/officeart/2008/layout/LinedList"/>
    <dgm:cxn modelId="{EAD83402-1FF0-4F15-8A53-E94210DB7265}" type="presParOf" srcId="{AE0B1B25-94C7-4F34-8BCB-B177C22FA0D4}" destId="{735ECF1D-A152-484A-96FD-67BA82E562BB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97F461D-EC6E-4179-927F-0C6AD93CBEAB}">
      <dsp:nvSpPr>
        <dsp:cNvPr id="0" name=""/>
        <dsp:cNvSpPr/>
      </dsp:nvSpPr>
      <dsp:spPr>
        <a:xfrm>
          <a:off x="0" y="675"/>
          <a:ext cx="6291714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452D1B0-0F1F-4D43-8FF9-638585DFAE99}">
      <dsp:nvSpPr>
        <dsp:cNvPr id="0" name=""/>
        <dsp:cNvSpPr/>
      </dsp:nvSpPr>
      <dsp:spPr>
        <a:xfrm>
          <a:off x="0" y="675"/>
          <a:ext cx="6291714" cy="78991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8110" tIns="118110" rIns="118110" bIns="118110" numCol="1" spcCol="1270" anchor="t" anchorCtr="0">
          <a:noAutofit/>
        </a:bodyPr>
        <a:lstStyle/>
        <a:p>
          <a:pPr marL="0" lvl="0" indent="0" algn="l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100" kern="1200" dirty="0"/>
            <a:t>Helt basic </a:t>
          </a:r>
          <a:r>
            <a:rPr lang="en-US" sz="3100" kern="1200" dirty="0" err="1"/>
            <a:t>biostat</a:t>
          </a:r>
          <a:endParaRPr lang="en-US" sz="3100" kern="1200" dirty="0"/>
        </a:p>
      </dsp:txBody>
      <dsp:txXfrm>
        <a:off x="0" y="675"/>
        <a:ext cx="6291714" cy="789912"/>
      </dsp:txXfrm>
    </dsp:sp>
    <dsp:sp modelId="{6D4E6855-10F1-4E4B-86F6-9420AEA4B5BC}">
      <dsp:nvSpPr>
        <dsp:cNvPr id="0" name=""/>
        <dsp:cNvSpPr/>
      </dsp:nvSpPr>
      <dsp:spPr>
        <a:xfrm>
          <a:off x="0" y="790587"/>
          <a:ext cx="6291714" cy="0"/>
        </a:xfrm>
        <a:prstGeom prst="line">
          <a:avLst/>
        </a:prstGeom>
        <a:solidFill>
          <a:schemeClr val="accent2">
            <a:hueOff val="1073936"/>
            <a:satOff val="-3082"/>
            <a:lumOff val="-4935"/>
            <a:alphaOff val="0"/>
          </a:schemeClr>
        </a:solidFill>
        <a:ln w="19050" cap="flat" cmpd="sng" algn="ctr">
          <a:solidFill>
            <a:schemeClr val="accent2">
              <a:hueOff val="1073936"/>
              <a:satOff val="-3082"/>
              <a:lumOff val="-4935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FFDCD4C-7A1F-4C60-8BC4-AA16B12E29F2}">
      <dsp:nvSpPr>
        <dsp:cNvPr id="0" name=""/>
        <dsp:cNvSpPr/>
      </dsp:nvSpPr>
      <dsp:spPr>
        <a:xfrm>
          <a:off x="0" y="790587"/>
          <a:ext cx="6291714" cy="78991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8110" tIns="118110" rIns="118110" bIns="118110" numCol="1" spcCol="1270" anchor="t" anchorCtr="0">
          <a:noAutofit/>
        </a:bodyPr>
        <a:lstStyle/>
        <a:p>
          <a:pPr marL="0" lvl="0" indent="0" algn="l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100" kern="1200" dirty="0"/>
            <a:t>Test </a:t>
          </a:r>
          <a:r>
            <a:rPr lang="en-US" sz="3100" kern="1200" dirty="0" err="1"/>
            <a:t>af</a:t>
          </a:r>
          <a:r>
            <a:rPr lang="en-US" sz="3100" kern="1200" dirty="0"/>
            <a:t> </a:t>
          </a:r>
          <a:r>
            <a:rPr lang="en-US" sz="3100" kern="1200" dirty="0" err="1"/>
            <a:t>normalfordeling</a:t>
          </a:r>
          <a:endParaRPr lang="en-US" sz="3100" kern="1200" dirty="0"/>
        </a:p>
      </dsp:txBody>
      <dsp:txXfrm>
        <a:off x="0" y="790587"/>
        <a:ext cx="6291714" cy="789912"/>
      </dsp:txXfrm>
    </dsp:sp>
    <dsp:sp modelId="{CD3C9203-DAE0-4D0C-BF9D-D55D55B76D8D}">
      <dsp:nvSpPr>
        <dsp:cNvPr id="0" name=""/>
        <dsp:cNvSpPr/>
      </dsp:nvSpPr>
      <dsp:spPr>
        <a:xfrm>
          <a:off x="0" y="1580499"/>
          <a:ext cx="6291714" cy="0"/>
        </a:xfrm>
        <a:prstGeom prst="line">
          <a:avLst/>
        </a:prstGeom>
        <a:solidFill>
          <a:schemeClr val="accent2">
            <a:hueOff val="2147871"/>
            <a:satOff val="-6164"/>
            <a:lumOff val="-9870"/>
            <a:alphaOff val="0"/>
          </a:schemeClr>
        </a:solidFill>
        <a:ln w="19050" cap="flat" cmpd="sng" algn="ctr">
          <a:solidFill>
            <a:schemeClr val="accent2">
              <a:hueOff val="2147871"/>
              <a:satOff val="-6164"/>
              <a:lumOff val="-987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BCB087D-C304-42B5-B7B0-BE2EB5CD28A0}">
      <dsp:nvSpPr>
        <dsp:cNvPr id="0" name=""/>
        <dsp:cNvSpPr/>
      </dsp:nvSpPr>
      <dsp:spPr>
        <a:xfrm>
          <a:off x="0" y="1580499"/>
          <a:ext cx="6291714" cy="78991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8110" tIns="118110" rIns="118110" bIns="118110" numCol="1" spcCol="1270" anchor="t" anchorCtr="0">
          <a:noAutofit/>
        </a:bodyPr>
        <a:lstStyle/>
        <a:p>
          <a:pPr marL="0" lvl="0" indent="0" algn="l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100" kern="1200" dirty="0"/>
            <a:t>De </a:t>
          </a:r>
          <a:r>
            <a:rPr lang="en-US" sz="3100" kern="1200" dirty="0" err="1"/>
            <a:t>mest</a:t>
          </a:r>
          <a:r>
            <a:rPr lang="en-US" sz="3100" kern="1200" dirty="0"/>
            <a:t> </a:t>
          </a:r>
          <a:r>
            <a:rPr lang="en-US" sz="3100" kern="1200" dirty="0" err="1"/>
            <a:t>almindelige</a:t>
          </a:r>
          <a:r>
            <a:rPr lang="en-US" sz="3100" kern="1200" dirty="0"/>
            <a:t> </a:t>
          </a:r>
          <a:r>
            <a:rPr lang="en-US" sz="3100" kern="1200" dirty="0" err="1"/>
            <a:t>hypotesetests</a:t>
          </a:r>
          <a:endParaRPr lang="en-US" sz="3100" kern="1200" dirty="0"/>
        </a:p>
      </dsp:txBody>
      <dsp:txXfrm>
        <a:off x="0" y="1580499"/>
        <a:ext cx="6291714" cy="789912"/>
      </dsp:txXfrm>
    </dsp:sp>
    <dsp:sp modelId="{DBAAC0A5-4BE0-4198-A670-C41F5AA2C64A}">
      <dsp:nvSpPr>
        <dsp:cNvPr id="0" name=""/>
        <dsp:cNvSpPr/>
      </dsp:nvSpPr>
      <dsp:spPr>
        <a:xfrm>
          <a:off x="0" y="2370411"/>
          <a:ext cx="6291714" cy="0"/>
        </a:xfrm>
        <a:prstGeom prst="line">
          <a:avLst/>
        </a:prstGeom>
        <a:solidFill>
          <a:schemeClr val="accent2">
            <a:hueOff val="3221807"/>
            <a:satOff val="-9246"/>
            <a:lumOff val="-14805"/>
            <a:alphaOff val="0"/>
          </a:schemeClr>
        </a:solidFill>
        <a:ln w="19050" cap="flat" cmpd="sng" algn="ctr">
          <a:solidFill>
            <a:schemeClr val="accent2">
              <a:hueOff val="3221807"/>
              <a:satOff val="-9246"/>
              <a:lumOff val="-14805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712898D-FEE3-49BD-883B-3FA1892C584E}">
      <dsp:nvSpPr>
        <dsp:cNvPr id="0" name=""/>
        <dsp:cNvSpPr/>
      </dsp:nvSpPr>
      <dsp:spPr>
        <a:xfrm>
          <a:off x="0" y="2370411"/>
          <a:ext cx="6291714" cy="78991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8110" tIns="118110" rIns="118110" bIns="118110" numCol="1" spcCol="1270" anchor="t" anchorCtr="0">
          <a:noAutofit/>
        </a:bodyPr>
        <a:lstStyle/>
        <a:p>
          <a:pPr marL="0" lvl="0" indent="0" algn="l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100" kern="1200" dirty="0" err="1"/>
            <a:t>Spise</a:t>
          </a:r>
          <a:r>
            <a:rPr lang="en-US" sz="3100" kern="1200" dirty="0"/>
            <a:t> pause</a:t>
          </a:r>
        </a:p>
      </dsp:txBody>
      <dsp:txXfrm>
        <a:off x="0" y="2370411"/>
        <a:ext cx="6291714" cy="789912"/>
      </dsp:txXfrm>
    </dsp:sp>
    <dsp:sp modelId="{911A70AB-5E9A-4DF8-A39B-960757FE3BCB}">
      <dsp:nvSpPr>
        <dsp:cNvPr id="0" name=""/>
        <dsp:cNvSpPr/>
      </dsp:nvSpPr>
      <dsp:spPr>
        <a:xfrm>
          <a:off x="0" y="3160323"/>
          <a:ext cx="6291714" cy="0"/>
        </a:xfrm>
        <a:prstGeom prst="line">
          <a:avLst/>
        </a:prstGeom>
        <a:solidFill>
          <a:schemeClr val="accent2">
            <a:hueOff val="4295743"/>
            <a:satOff val="-12329"/>
            <a:lumOff val="-19739"/>
            <a:alphaOff val="0"/>
          </a:schemeClr>
        </a:solidFill>
        <a:ln w="19050" cap="flat" cmpd="sng" algn="ctr">
          <a:solidFill>
            <a:schemeClr val="accent2">
              <a:hueOff val="4295743"/>
              <a:satOff val="-12329"/>
              <a:lumOff val="-19739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AAA0AD9-6DE0-4676-AA2D-39949CBB9021}">
      <dsp:nvSpPr>
        <dsp:cNvPr id="0" name=""/>
        <dsp:cNvSpPr/>
      </dsp:nvSpPr>
      <dsp:spPr>
        <a:xfrm>
          <a:off x="0" y="3160323"/>
          <a:ext cx="6291714" cy="78991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8110" tIns="118110" rIns="118110" bIns="118110" numCol="1" spcCol="1270" anchor="t" anchorCtr="0">
          <a:noAutofit/>
        </a:bodyPr>
        <a:lstStyle/>
        <a:p>
          <a:pPr marL="0" lvl="0" indent="0" algn="l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100" kern="1200" dirty="0"/>
            <a:t>“Table 1”  </a:t>
          </a:r>
        </a:p>
      </dsp:txBody>
      <dsp:txXfrm>
        <a:off x="0" y="3160323"/>
        <a:ext cx="6291714" cy="789912"/>
      </dsp:txXfrm>
    </dsp:sp>
    <dsp:sp modelId="{18D39591-C8CB-477A-B24A-70531F1AE3D0}">
      <dsp:nvSpPr>
        <dsp:cNvPr id="0" name=""/>
        <dsp:cNvSpPr/>
      </dsp:nvSpPr>
      <dsp:spPr>
        <a:xfrm>
          <a:off x="0" y="3950235"/>
          <a:ext cx="6291714" cy="0"/>
        </a:xfrm>
        <a:prstGeom prst="line">
          <a:avLst/>
        </a:prstGeom>
        <a:solidFill>
          <a:schemeClr val="accent2">
            <a:hueOff val="5369678"/>
            <a:satOff val="-15411"/>
            <a:lumOff val="-24674"/>
            <a:alphaOff val="0"/>
          </a:schemeClr>
        </a:solidFill>
        <a:ln w="19050" cap="flat" cmpd="sng" algn="ctr">
          <a:solidFill>
            <a:schemeClr val="accent2">
              <a:hueOff val="5369678"/>
              <a:satOff val="-15411"/>
              <a:lumOff val="-24674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29CB212-6DAA-4A10-B729-94E1FD65CBAD}">
      <dsp:nvSpPr>
        <dsp:cNvPr id="0" name=""/>
        <dsp:cNvSpPr/>
      </dsp:nvSpPr>
      <dsp:spPr>
        <a:xfrm>
          <a:off x="0" y="3950235"/>
          <a:ext cx="6291714" cy="78991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8110" tIns="118110" rIns="118110" bIns="118110" numCol="1" spcCol="1270" anchor="t" anchorCtr="0">
          <a:noAutofit/>
        </a:bodyPr>
        <a:lstStyle/>
        <a:p>
          <a:pPr marL="0" lvl="0" indent="0" algn="l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100" kern="1200" dirty="0" err="1"/>
            <a:t>Eksport</a:t>
          </a:r>
          <a:r>
            <a:rPr lang="en-US" sz="3100" kern="1200" dirty="0"/>
            <a:t> </a:t>
          </a:r>
          <a:r>
            <a:rPr lang="en-US" sz="3100" kern="1200" dirty="0" err="1"/>
            <a:t>og</a:t>
          </a:r>
          <a:r>
            <a:rPr lang="en-US" sz="3100" kern="1200" dirty="0"/>
            <a:t> </a:t>
          </a:r>
          <a:r>
            <a:rPr lang="en-US" sz="3100" kern="1200" dirty="0" err="1"/>
            <a:t>gemme</a:t>
          </a:r>
          <a:r>
            <a:rPr lang="en-US" sz="3100" kern="1200" dirty="0"/>
            <a:t> </a:t>
          </a:r>
          <a:r>
            <a:rPr lang="en-US" sz="3100" kern="1200" dirty="0" err="1"/>
            <a:t>resultater</a:t>
          </a:r>
          <a:r>
            <a:rPr lang="en-US" sz="3100" kern="1200" dirty="0"/>
            <a:t> </a:t>
          </a:r>
        </a:p>
      </dsp:txBody>
      <dsp:txXfrm>
        <a:off x="0" y="3950235"/>
        <a:ext cx="6291714" cy="789912"/>
      </dsp:txXfrm>
    </dsp:sp>
    <dsp:sp modelId="{171725A7-A228-46AC-B73D-550B0E628AC3}">
      <dsp:nvSpPr>
        <dsp:cNvPr id="0" name=""/>
        <dsp:cNvSpPr/>
      </dsp:nvSpPr>
      <dsp:spPr>
        <a:xfrm>
          <a:off x="0" y="4740147"/>
          <a:ext cx="6291714" cy="0"/>
        </a:xfrm>
        <a:prstGeom prst="line">
          <a:avLst/>
        </a:prstGeom>
        <a:solidFill>
          <a:schemeClr val="accent2">
            <a:hueOff val="6443614"/>
            <a:satOff val="-18493"/>
            <a:lumOff val="-29609"/>
            <a:alphaOff val="0"/>
          </a:schemeClr>
        </a:solidFill>
        <a:ln w="19050" cap="flat" cmpd="sng" algn="ctr">
          <a:solidFill>
            <a:schemeClr val="accent2">
              <a:hueOff val="6443614"/>
              <a:satOff val="-18493"/>
              <a:lumOff val="-29609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3E97B70-D60C-4FDB-97DF-88BF5DE7CAA2}">
      <dsp:nvSpPr>
        <dsp:cNvPr id="0" name=""/>
        <dsp:cNvSpPr/>
      </dsp:nvSpPr>
      <dsp:spPr>
        <a:xfrm>
          <a:off x="0" y="4740147"/>
          <a:ext cx="6291714" cy="78991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8110" tIns="118110" rIns="118110" bIns="118110" numCol="1" spcCol="1270" anchor="t" anchorCtr="0">
          <a:noAutofit/>
        </a:bodyPr>
        <a:lstStyle/>
        <a:p>
          <a:pPr marL="0" lvl="0" indent="0" algn="l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100" kern="1200" dirty="0" err="1"/>
            <a:t>Publisering</a:t>
          </a:r>
          <a:r>
            <a:rPr lang="en-US" sz="3100" kern="1200" dirty="0"/>
            <a:t> </a:t>
          </a:r>
          <a:r>
            <a:rPr lang="en-US" sz="3100" kern="1200" dirty="0" err="1"/>
            <a:t>af</a:t>
          </a:r>
          <a:r>
            <a:rPr lang="en-US" sz="3100" kern="1200" dirty="0"/>
            <a:t> </a:t>
          </a:r>
          <a:r>
            <a:rPr lang="en-US" sz="3100" kern="1200" dirty="0" err="1"/>
            <a:t>statistik</a:t>
          </a:r>
          <a:r>
            <a:rPr lang="en-US" sz="3100" kern="1200" dirty="0"/>
            <a:t> </a:t>
          </a:r>
          <a:r>
            <a:rPr lang="en-US" sz="3100" kern="1200" dirty="0" err="1"/>
            <a:t>koder</a:t>
          </a:r>
          <a:r>
            <a:rPr lang="en-US" sz="3100" kern="1200" dirty="0"/>
            <a:t> </a:t>
          </a:r>
        </a:p>
      </dsp:txBody>
      <dsp:txXfrm>
        <a:off x="0" y="4740147"/>
        <a:ext cx="6291714" cy="789912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sidehoved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a-DK"/>
          </a:p>
        </p:txBody>
      </p:sp>
      <p:sp>
        <p:nvSpPr>
          <p:cNvPr id="3" name="Pladsholder til dato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4456939-B675-48EC-832C-1A67790AD94F}" type="datetimeFigureOut">
              <a:rPr lang="da-DK" smtClean="0"/>
              <a:t>22-04-2025</a:t>
            </a:fld>
            <a:endParaRPr lang="da-DK"/>
          </a:p>
        </p:txBody>
      </p:sp>
      <p:sp>
        <p:nvSpPr>
          <p:cNvPr id="4" name="Pladsholder til slidebille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a-DK"/>
          </a:p>
        </p:txBody>
      </p:sp>
      <p:sp>
        <p:nvSpPr>
          <p:cNvPr id="5" name="Pladsholder til no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</a:p>
        </p:txBody>
      </p:sp>
      <p:sp>
        <p:nvSpPr>
          <p:cNvPr id="6" name="Pladsholder til sidefod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a-DK"/>
          </a:p>
        </p:txBody>
      </p:sp>
      <p:sp>
        <p:nvSpPr>
          <p:cNvPr id="7" name="Pladsholder til slidenumm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7372562-EED8-45F3-9F76-7108979F30FA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227542593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slidebille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Pladsholder til no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a-DK" dirty="0"/>
          </a:p>
        </p:txBody>
      </p:sp>
      <p:sp>
        <p:nvSpPr>
          <p:cNvPr id="4" name="Pladsholder til slidenumm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7372562-EED8-45F3-9F76-7108979F30FA}" type="slidenum">
              <a:rPr lang="da-DK" smtClean="0"/>
              <a:t>9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391145508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2BCA25F-A812-5BF5-CC75-FE2D4972133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a-DK"/>
              <a:t>Klik for at redigere titeltypografien i masteren</a:t>
            </a:r>
          </a:p>
        </p:txBody>
      </p:sp>
      <p:sp>
        <p:nvSpPr>
          <p:cNvPr id="3" name="Undertitel 2">
            <a:extLst>
              <a:ext uri="{FF2B5EF4-FFF2-40B4-BE49-F238E27FC236}">
                <a16:creationId xmlns:a16="http://schemas.microsoft.com/office/drawing/2014/main" id="{F69596A1-2665-CA37-F26C-72F0CA991F0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a-DK"/>
              <a:t>Klik for at redigere undertiteltypografien i masteren</a:t>
            </a:r>
          </a:p>
        </p:txBody>
      </p:sp>
      <p:sp>
        <p:nvSpPr>
          <p:cNvPr id="4" name="Pladsholder til dato 3">
            <a:extLst>
              <a:ext uri="{FF2B5EF4-FFF2-40B4-BE49-F238E27FC236}">
                <a16:creationId xmlns:a16="http://schemas.microsoft.com/office/drawing/2014/main" id="{1F14E2D5-C466-2F06-7CC0-9609E4B31B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4AE6B9-E943-4EAF-A560-CBFA5357EA60}" type="datetimeFigureOut">
              <a:rPr lang="da-DK" smtClean="0"/>
              <a:t>22-04-2025</a:t>
            </a:fld>
            <a:endParaRPr lang="da-DK"/>
          </a:p>
        </p:txBody>
      </p:sp>
      <p:sp>
        <p:nvSpPr>
          <p:cNvPr id="5" name="Pladsholder til sidefod 4">
            <a:extLst>
              <a:ext uri="{FF2B5EF4-FFF2-40B4-BE49-F238E27FC236}">
                <a16:creationId xmlns:a16="http://schemas.microsoft.com/office/drawing/2014/main" id="{849EBB9D-792A-DBF8-2DA0-0A4BF0961E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6" name="Pladsholder til slidenummer 5">
            <a:extLst>
              <a:ext uri="{FF2B5EF4-FFF2-40B4-BE49-F238E27FC236}">
                <a16:creationId xmlns:a16="http://schemas.microsoft.com/office/drawing/2014/main" id="{15FA6FE1-D515-3CC5-2C71-6C4B63E6BA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A9EE14-3CCE-49CF-9B49-41A7D87911A0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217362951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og indholdsobjek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473A612-4D72-3292-97AD-490B3E43ED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/>
              <a:t>Klik for at redigere titeltypografien i masteren</a:t>
            </a:r>
          </a:p>
        </p:txBody>
      </p:sp>
      <p:sp>
        <p:nvSpPr>
          <p:cNvPr id="3" name="Pladsholder til indhold 2">
            <a:extLst>
              <a:ext uri="{FF2B5EF4-FFF2-40B4-BE49-F238E27FC236}">
                <a16:creationId xmlns:a16="http://schemas.microsoft.com/office/drawing/2014/main" id="{D4B7EAAF-8F0D-9AE9-4B02-1CD12DDC2C9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</a:p>
        </p:txBody>
      </p:sp>
      <p:sp>
        <p:nvSpPr>
          <p:cNvPr id="4" name="Pladsholder til dato 3">
            <a:extLst>
              <a:ext uri="{FF2B5EF4-FFF2-40B4-BE49-F238E27FC236}">
                <a16:creationId xmlns:a16="http://schemas.microsoft.com/office/drawing/2014/main" id="{5FB3CA30-8E93-697B-E957-057B08B353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4AE6B9-E943-4EAF-A560-CBFA5357EA60}" type="datetimeFigureOut">
              <a:rPr lang="da-DK" smtClean="0"/>
              <a:t>22-04-2025</a:t>
            </a:fld>
            <a:endParaRPr lang="da-DK"/>
          </a:p>
        </p:txBody>
      </p:sp>
      <p:sp>
        <p:nvSpPr>
          <p:cNvPr id="5" name="Pladsholder til sidefod 4">
            <a:extLst>
              <a:ext uri="{FF2B5EF4-FFF2-40B4-BE49-F238E27FC236}">
                <a16:creationId xmlns:a16="http://schemas.microsoft.com/office/drawing/2014/main" id="{93A2D868-6DED-6C19-0695-905C5D367F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6" name="Pladsholder til slidenummer 5">
            <a:extLst>
              <a:ext uri="{FF2B5EF4-FFF2-40B4-BE49-F238E27FC236}">
                <a16:creationId xmlns:a16="http://schemas.microsoft.com/office/drawing/2014/main" id="{C8FD1369-BD30-9C80-355B-98B741AE11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A9EE14-3CCE-49CF-9B49-41A7D87911A0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85350308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fsnitsoversk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5B1ED69-2EB6-48C3-7DFB-B5DDBE6945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a-DK"/>
              <a:t>Klik for at redigere titeltypografien i masteren</a:t>
            </a:r>
          </a:p>
        </p:txBody>
      </p:sp>
      <p:sp>
        <p:nvSpPr>
          <p:cNvPr id="3" name="Pladsholder til tekst 2">
            <a:extLst>
              <a:ext uri="{FF2B5EF4-FFF2-40B4-BE49-F238E27FC236}">
                <a16:creationId xmlns:a16="http://schemas.microsoft.com/office/drawing/2014/main" id="{B79038A8-A8BF-3BFD-FE81-888C50BBEDC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sp>
        <p:nvSpPr>
          <p:cNvPr id="4" name="Pladsholder til dato 3">
            <a:extLst>
              <a:ext uri="{FF2B5EF4-FFF2-40B4-BE49-F238E27FC236}">
                <a16:creationId xmlns:a16="http://schemas.microsoft.com/office/drawing/2014/main" id="{253D37FD-5F26-8A2C-45B1-54F96B1F88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4AE6B9-E943-4EAF-A560-CBFA5357EA60}" type="datetimeFigureOut">
              <a:rPr lang="da-DK" smtClean="0"/>
              <a:t>22-04-2025</a:t>
            </a:fld>
            <a:endParaRPr lang="da-DK"/>
          </a:p>
        </p:txBody>
      </p:sp>
      <p:sp>
        <p:nvSpPr>
          <p:cNvPr id="5" name="Pladsholder til sidefod 4">
            <a:extLst>
              <a:ext uri="{FF2B5EF4-FFF2-40B4-BE49-F238E27FC236}">
                <a16:creationId xmlns:a16="http://schemas.microsoft.com/office/drawing/2014/main" id="{BE25A5AF-D572-F4B1-D34D-4CDD3EA5AB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6" name="Pladsholder til slidenummer 5">
            <a:extLst>
              <a:ext uri="{FF2B5EF4-FFF2-40B4-BE49-F238E27FC236}">
                <a16:creationId xmlns:a16="http://schemas.microsoft.com/office/drawing/2014/main" id="{7A10134E-B379-7C0D-8912-45075CD561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A9EE14-3CCE-49CF-9B49-41A7D87911A0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187910134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o indholdsobjek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F9716B8-779E-BD5E-B7F6-8E4D87FDA1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/>
              <a:t>Klik for at redigere titeltypografien i masteren</a:t>
            </a:r>
          </a:p>
        </p:txBody>
      </p:sp>
      <p:sp>
        <p:nvSpPr>
          <p:cNvPr id="3" name="Pladsholder til indhold 2">
            <a:extLst>
              <a:ext uri="{FF2B5EF4-FFF2-40B4-BE49-F238E27FC236}">
                <a16:creationId xmlns:a16="http://schemas.microsoft.com/office/drawing/2014/main" id="{E8B32098-C6D9-139C-F38F-BFD7F6DE130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</a:p>
        </p:txBody>
      </p:sp>
      <p:sp>
        <p:nvSpPr>
          <p:cNvPr id="4" name="Pladsholder til indhold 3">
            <a:extLst>
              <a:ext uri="{FF2B5EF4-FFF2-40B4-BE49-F238E27FC236}">
                <a16:creationId xmlns:a16="http://schemas.microsoft.com/office/drawing/2014/main" id="{F931E067-C0B2-979C-045F-307F6F2B546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</a:p>
        </p:txBody>
      </p:sp>
      <p:sp>
        <p:nvSpPr>
          <p:cNvPr id="5" name="Pladsholder til dato 4">
            <a:extLst>
              <a:ext uri="{FF2B5EF4-FFF2-40B4-BE49-F238E27FC236}">
                <a16:creationId xmlns:a16="http://schemas.microsoft.com/office/drawing/2014/main" id="{62433440-FC08-0FD2-755E-C6F0773C30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4AE6B9-E943-4EAF-A560-CBFA5357EA60}" type="datetimeFigureOut">
              <a:rPr lang="da-DK" smtClean="0"/>
              <a:t>22-04-2025</a:t>
            </a:fld>
            <a:endParaRPr lang="da-DK"/>
          </a:p>
        </p:txBody>
      </p:sp>
      <p:sp>
        <p:nvSpPr>
          <p:cNvPr id="6" name="Pladsholder til sidefod 5">
            <a:extLst>
              <a:ext uri="{FF2B5EF4-FFF2-40B4-BE49-F238E27FC236}">
                <a16:creationId xmlns:a16="http://schemas.microsoft.com/office/drawing/2014/main" id="{64FB4E68-DD21-631E-50A7-7471028315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7" name="Pladsholder til slidenummer 6">
            <a:extLst>
              <a:ext uri="{FF2B5EF4-FFF2-40B4-BE49-F238E27FC236}">
                <a16:creationId xmlns:a16="http://schemas.microsoft.com/office/drawing/2014/main" id="{16DC0526-FAA1-4319-1C6E-50A295F430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A9EE14-3CCE-49CF-9B49-41A7D87911A0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360417502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Sammenlign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35C792D-05F5-FBB5-0F0F-90106023DD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a-DK"/>
              <a:t>Klik for at redigere titeltypografien i masteren</a:t>
            </a:r>
          </a:p>
        </p:txBody>
      </p:sp>
      <p:sp>
        <p:nvSpPr>
          <p:cNvPr id="3" name="Pladsholder til tekst 2">
            <a:extLst>
              <a:ext uri="{FF2B5EF4-FFF2-40B4-BE49-F238E27FC236}">
                <a16:creationId xmlns:a16="http://schemas.microsoft.com/office/drawing/2014/main" id="{AE82149D-3BE7-AAB4-9888-07099BB39FA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sp>
        <p:nvSpPr>
          <p:cNvPr id="4" name="Pladsholder til indhold 3">
            <a:extLst>
              <a:ext uri="{FF2B5EF4-FFF2-40B4-BE49-F238E27FC236}">
                <a16:creationId xmlns:a16="http://schemas.microsoft.com/office/drawing/2014/main" id="{C3251EF3-203E-F5F4-C4B7-C8DEAC655F9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</a:p>
        </p:txBody>
      </p:sp>
      <p:sp>
        <p:nvSpPr>
          <p:cNvPr id="5" name="Pladsholder til tekst 4">
            <a:extLst>
              <a:ext uri="{FF2B5EF4-FFF2-40B4-BE49-F238E27FC236}">
                <a16:creationId xmlns:a16="http://schemas.microsoft.com/office/drawing/2014/main" id="{37CCC1ED-E323-FCC2-6AFE-0E4392F943B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sp>
        <p:nvSpPr>
          <p:cNvPr id="6" name="Pladsholder til indhold 5">
            <a:extLst>
              <a:ext uri="{FF2B5EF4-FFF2-40B4-BE49-F238E27FC236}">
                <a16:creationId xmlns:a16="http://schemas.microsoft.com/office/drawing/2014/main" id="{8168B0E7-B2CB-9673-5C97-2C32EF5E439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</a:p>
        </p:txBody>
      </p:sp>
      <p:sp>
        <p:nvSpPr>
          <p:cNvPr id="7" name="Pladsholder til dato 6">
            <a:extLst>
              <a:ext uri="{FF2B5EF4-FFF2-40B4-BE49-F238E27FC236}">
                <a16:creationId xmlns:a16="http://schemas.microsoft.com/office/drawing/2014/main" id="{0952C73A-D2A5-EC48-9580-BDC878DD56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4AE6B9-E943-4EAF-A560-CBFA5357EA60}" type="datetimeFigureOut">
              <a:rPr lang="da-DK" smtClean="0"/>
              <a:t>22-04-2025</a:t>
            </a:fld>
            <a:endParaRPr lang="da-DK"/>
          </a:p>
        </p:txBody>
      </p:sp>
      <p:sp>
        <p:nvSpPr>
          <p:cNvPr id="8" name="Pladsholder til sidefod 7">
            <a:extLst>
              <a:ext uri="{FF2B5EF4-FFF2-40B4-BE49-F238E27FC236}">
                <a16:creationId xmlns:a16="http://schemas.microsoft.com/office/drawing/2014/main" id="{DA367848-67EC-8E49-E254-26E0306DD2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9" name="Pladsholder til slidenummer 8">
            <a:extLst>
              <a:ext uri="{FF2B5EF4-FFF2-40B4-BE49-F238E27FC236}">
                <a16:creationId xmlns:a16="http://schemas.microsoft.com/office/drawing/2014/main" id="{D385F003-8FD8-3673-2C51-F4E19558F0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A9EE14-3CCE-49CF-9B49-41A7D87911A0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397855761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Kun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0A852CB-BDE5-2C28-7BFE-5D9F7248FE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/>
              <a:t>Klik for at redigere titeltypografien i masteren</a:t>
            </a:r>
          </a:p>
        </p:txBody>
      </p:sp>
      <p:sp>
        <p:nvSpPr>
          <p:cNvPr id="3" name="Pladsholder til dato 2">
            <a:extLst>
              <a:ext uri="{FF2B5EF4-FFF2-40B4-BE49-F238E27FC236}">
                <a16:creationId xmlns:a16="http://schemas.microsoft.com/office/drawing/2014/main" id="{0B6AC977-61EA-D0E4-16DF-D58CBB2F88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4AE6B9-E943-4EAF-A560-CBFA5357EA60}" type="datetimeFigureOut">
              <a:rPr lang="da-DK" smtClean="0"/>
              <a:t>22-04-2025</a:t>
            </a:fld>
            <a:endParaRPr lang="da-DK"/>
          </a:p>
        </p:txBody>
      </p:sp>
      <p:sp>
        <p:nvSpPr>
          <p:cNvPr id="4" name="Pladsholder til sidefod 3">
            <a:extLst>
              <a:ext uri="{FF2B5EF4-FFF2-40B4-BE49-F238E27FC236}">
                <a16:creationId xmlns:a16="http://schemas.microsoft.com/office/drawing/2014/main" id="{6B7B2F74-C6A2-1F01-D172-DE8AE3B852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5" name="Pladsholder til slidenummer 4">
            <a:extLst>
              <a:ext uri="{FF2B5EF4-FFF2-40B4-BE49-F238E27FC236}">
                <a16:creationId xmlns:a16="http://schemas.microsoft.com/office/drawing/2014/main" id="{2A74FFD7-C22E-8962-61D6-9A34657030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A9EE14-3CCE-49CF-9B49-41A7D87911A0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263457195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dato 1">
            <a:extLst>
              <a:ext uri="{FF2B5EF4-FFF2-40B4-BE49-F238E27FC236}">
                <a16:creationId xmlns:a16="http://schemas.microsoft.com/office/drawing/2014/main" id="{1E678D7F-9D87-9EAF-B374-7A428BD6A2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4AE6B9-E943-4EAF-A560-CBFA5357EA60}" type="datetimeFigureOut">
              <a:rPr lang="da-DK" smtClean="0"/>
              <a:t>22-04-2025</a:t>
            </a:fld>
            <a:endParaRPr lang="da-DK"/>
          </a:p>
        </p:txBody>
      </p:sp>
      <p:sp>
        <p:nvSpPr>
          <p:cNvPr id="3" name="Pladsholder til sidefod 2">
            <a:extLst>
              <a:ext uri="{FF2B5EF4-FFF2-40B4-BE49-F238E27FC236}">
                <a16:creationId xmlns:a16="http://schemas.microsoft.com/office/drawing/2014/main" id="{5FC8C957-AD73-E2E7-0E1D-DC28D200CD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4" name="Pladsholder til slidenummer 3">
            <a:extLst>
              <a:ext uri="{FF2B5EF4-FFF2-40B4-BE49-F238E27FC236}">
                <a16:creationId xmlns:a16="http://schemas.microsoft.com/office/drawing/2014/main" id="{0DF9BB1E-4B39-2A1F-62F4-913DCD3F46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A9EE14-3CCE-49CF-9B49-41A7D87911A0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28809028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dhold med billed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949C702-5A5F-E15A-739B-B5BFEC7ADE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a-DK"/>
              <a:t>Klik for at redigere titeltypografien i masteren</a:t>
            </a:r>
          </a:p>
        </p:txBody>
      </p:sp>
      <p:sp>
        <p:nvSpPr>
          <p:cNvPr id="3" name="Pladsholder til indhold 2">
            <a:extLst>
              <a:ext uri="{FF2B5EF4-FFF2-40B4-BE49-F238E27FC236}">
                <a16:creationId xmlns:a16="http://schemas.microsoft.com/office/drawing/2014/main" id="{888DC5D9-08B2-151C-DDD1-55B9BDEEB35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</a:p>
        </p:txBody>
      </p:sp>
      <p:sp>
        <p:nvSpPr>
          <p:cNvPr id="4" name="Pladsholder til tekst 3">
            <a:extLst>
              <a:ext uri="{FF2B5EF4-FFF2-40B4-BE49-F238E27FC236}">
                <a16:creationId xmlns:a16="http://schemas.microsoft.com/office/drawing/2014/main" id="{47F79780-8573-1979-E328-1322002CFB5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sp>
        <p:nvSpPr>
          <p:cNvPr id="5" name="Pladsholder til dato 4">
            <a:extLst>
              <a:ext uri="{FF2B5EF4-FFF2-40B4-BE49-F238E27FC236}">
                <a16:creationId xmlns:a16="http://schemas.microsoft.com/office/drawing/2014/main" id="{43A59778-276B-6ACE-4085-104A586FBE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4AE6B9-E943-4EAF-A560-CBFA5357EA60}" type="datetimeFigureOut">
              <a:rPr lang="da-DK" smtClean="0"/>
              <a:t>22-04-2025</a:t>
            </a:fld>
            <a:endParaRPr lang="da-DK"/>
          </a:p>
        </p:txBody>
      </p:sp>
      <p:sp>
        <p:nvSpPr>
          <p:cNvPr id="6" name="Pladsholder til sidefod 5">
            <a:extLst>
              <a:ext uri="{FF2B5EF4-FFF2-40B4-BE49-F238E27FC236}">
                <a16:creationId xmlns:a16="http://schemas.microsoft.com/office/drawing/2014/main" id="{BAEA618F-84DF-8501-1ED9-CCD0FA53BA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7" name="Pladsholder til slidenummer 6">
            <a:extLst>
              <a:ext uri="{FF2B5EF4-FFF2-40B4-BE49-F238E27FC236}">
                <a16:creationId xmlns:a16="http://schemas.microsoft.com/office/drawing/2014/main" id="{26B7C220-CE68-B10F-7B7C-7159B82DD2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A9EE14-3CCE-49CF-9B49-41A7D87911A0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376274235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lede med billed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34755B0-842A-7685-2411-4BAA2F4828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a-DK"/>
              <a:t>Klik for at redigere titeltypografien i masteren</a:t>
            </a:r>
          </a:p>
        </p:txBody>
      </p:sp>
      <p:sp>
        <p:nvSpPr>
          <p:cNvPr id="3" name="Pladsholder til billede 2">
            <a:extLst>
              <a:ext uri="{FF2B5EF4-FFF2-40B4-BE49-F238E27FC236}">
                <a16:creationId xmlns:a16="http://schemas.microsoft.com/office/drawing/2014/main" id="{BF5D6E53-D073-A694-2AB4-8B761AC31A8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a-DK"/>
          </a:p>
        </p:txBody>
      </p:sp>
      <p:sp>
        <p:nvSpPr>
          <p:cNvPr id="4" name="Pladsholder til tekst 3">
            <a:extLst>
              <a:ext uri="{FF2B5EF4-FFF2-40B4-BE49-F238E27FC236}">
                <a16:creationId xmlns:a16="http://schemas.microsoft.com/office/drawing/2014/main" id="{F1B7C978-77A0-A4C3-26D0-04F473DBBD8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sp>
        <p:nvSpPr>
          <p:cNvPr id="5" name="Pladsholder til dato 4">
            <a:extLst>
              <a:ext uri="{FF2B5EF4-FFF2-40B4-BE49-F238E27FC236}">
                <a16:creationId xmlns:a16="http://schemas.microsoft.com/office/drawing/2014/main" id="{D13675EF-041D-51ED-A2C7-3DED9B05A0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4AE6B9-E943-4EAF-A560-CBFA5357EA60}" type="datetimeFigureOut">
              <a:rPr lang="da-DK" smtClean="0"/>
              <a:t>22-04-2025</a:t>
            </a:fld>
            <a:endParaRPr lang="da-DK"/>
          </a:p>
        </p:txBody>
      </p:sp>
      <p:sp>
        <p:nvSpPr>
          <p:cNvPr id="6" name="Pladsholder til sidefod 5">
            <a:extLst>
              <a:ext uri="{FF2B5EF4-FFF2-40B4-BE49-F238E27FC236}">
                <a16:creationId xmlns:a16="http://schemas.microsoft.com/office/drawing/2014/main" id="{F5C24839-A55A-811E-6D0B-082DBCF36B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7" name="Pladsholder til slidenummer 6">
            <a:extLst>
              <a:ext uri="{FF2B5EF4-FFF2-40B4-BE49-F238E27FC236}">
                <a16:creationId xmlns:a16="http://schemas.microsoft.com/office/drawing/2014/main" id="{DA44111A-8D8F-69ED-1EF7-88CFB4A5DA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A9EE14-3CCE-49CF-9B49-41A7D87911A0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374074784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og lodret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45FE628-45C8-CDCB-E98C-034815FAC4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/>
              <a:t>Klik for at redigere titeltypografien i masteren</a:t>
            </a:r>
          </a:p>
        </p:txBody>
      </p:sp>
      <p:sp>
        <p:nvSpPr>
          <p:cNvPr id="3" name="Pladsholder til lodret titel 2">
            <a:extLst>
              <a:ext uri="{FF2B5EF4-FFF2-40B4-BE49-F238E27FC236}">
                <a16:creationId xmlns:a16="http://schemas.microsoft.com/office/drawing/2014/main" id="{1EF6281E-6620-866A-CD9A-77906271824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</a:p>
        </p:txBody>
      </p:sp>
      <p:sp>
        <p:nvSpPr>
          <p:cNvPr id="4" name="Pladsholder til dato 3">
            <a:extLst>
              <a:ext uri="{FF2B5EF4-FFF2-40B4-BE49-F238E27FC236}">
                <a16:creationId xmlns:a16="http://schemas.microsoft.com/office/drawing/2014/main" id="{76A7E9FD-E6D9-2B3B-AF91-42FA6E8185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4AE6B9-E943-4EAF-A560-CBFA5357EA60}" type="datetimeFigureOut">
              <a:rPr lang="da-DK" smtClean="0"/>
              <a:t>22-04-2025</a:t>
            </a:fld>
            <a:endParaRPr lang="da-DK"/>
          </a:p>
        </p:txBody>
      </p:sp>
      <p:sp>
        <p:nvSpPr>
          <p:cNvPr id="5" name="Pladsholder til sidefod 4">
            <a:extLst>
              <a:ext uri="{FF2B5EF4-FFF2-40B4-BE49-F238E27FC236}">
                <a16:creationId xmlns:a16="http://schemas.microsoft.com/office/drawing/2014/main" id="{FB939013-21BB-32CF-D89D-CB66661F62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6" name="Pladsholder til slidenummer 5">
            <a:extLst>
              <a:ext uri="{FF2B5EF4-FFF2-40B4-BE49-F238E27FC236}">
                <a16:creationId xmlns:a16="http://schemas.microsoft.com/office/drawing/2014/main" id="{082772FD-E232-01C6-7C0A-5A3059FD5D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A9EE14-3CCE-49CF-9B49-41A7D87911A0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399863934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Lodret titel og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odret titel 1">
            <a:extLst>
              <a:ext uri="{FF2B5EF4-FFF2-40B4-BE49-F238E27FC236}">
                <a16:creationId xmlns:a16="http://schemas.microsoft.com/office/drawing/2014/main" id="{F9C6B1AD-8B1C-9EE9-5E6A-F50CF021546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a-DK"/>
              <a:t>Klik for at redigere titeltypografien i masteren</a:t>
            </a:r>
          </a:p>
        </p:txBody>
      </p:sp>
      <p:sp>
        <p:nvSpPr>
          <p:cNvPr id="3" name="Pladsholder til lodret titel 2">
            <a:extLst>
              <a:ext uri="{FF2B5EF4-FFF2-40B4-BE49-F238E27FC236}">
                <a16:creationId xmlns:a16="http://schemas.microsoft.com/office/drawing/2014/main" id="{C7017135-D469-9F0C-5781-8CE2EF845E4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</a:p>
        </p:txBody>
      </p:sp>
      <p:sp>
        <p:nvSpPr>
          <p:cNvPr id="4" name="Pladsholder til dato 3">
            <a:extLst>
              <a:ext uri="{FF2B5EF4-FFF2-40B4-BE49-F238E27FC236}">
                <a16:creationId xmlns:a16="http://schemas.microsoft.com/office/drawing/2014/main" id="{15A2E234-32A3-3CC6-0AF8-856ACB54E2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4AE6B9-E943-4EAF-A560-CBFA5357EA60}" type="datetimeFigureOut">
              <a:rPr lang="da-DK" smtClean="0"/>
              <a:t>22-04-2025</a:t>
            </a:fld>
            <a:endParaRPr lang="da-DK"/>
          </a:p>
        </p:txBody>
      </p:sp>
      <p:sp>
        <p:nvSpPr>
          <p:cNvPr id="5" name="Pladsholder til sidefod 4">
            <a:extLst>
              <a:ext uri="{FF2B5EF4-FFF2-40B4-BE49-F238E27FC236}">
                <a16:creationId xmlns:a16="http://schemas.microsoft.com/office/drawing/2014/main" id="{2396FB21-A282-88E0-669F-A32B5AEDAA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6" name="Pladsholder til slidenummer 5">
            <a:extLst>
              <a:ext uri="{FF2B5EF4-FFF2-40B4-BE49-F238E27FC236}">
                <a16:creationId xmlns:a16="http://schemas.microsoft.com/office/drawing/2014/main" id="{08E8632A-660A-1222-B2A2-0D8210C98A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A9EE14-3CCE-49CF-9B49-41A7D87911A0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40465937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titel 1">
            <a:extLst>
              <a:ext uri="{FF2B5EF4-FFF2-40B4-BE49-F238E27FC236}">
                <a16:creationId xmlns:a16="http://schemas.microsoft.com/office/drawing/2014/main" id="{541704A3-389D-CCFE-228E-7D6A7DC701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a-DK"/>
              <a:t>Klik for at redigere titeltypografien i masteren</a:t>
            </a:r>
          </a:p>
        </p:txBody>
      </p:sp>
      <p:sp>
        <p:nvSpPr>
          <p:cNvPr id="3" name="Pladsholder til tekst 2">
            <a:extLst>
              <a:ext uri="{FF2B5EF4-FFF2-40B4-BE49-F238E27FC236}">
                <a16:creationId xmlns:a16="http://schemas.microsoft.com/office/drawing/2014/main" id="{FA0C4126-2004-F967-69CE-60F9D05C356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</a:p>
        </p:txBody>
      </p:sp>
      <p:sp>
        <p:nvSpPr>
          <p:cNvPr id="4" name="Pladsholder til dato 3">
            <a:extLst>
              <a:ext uri="{FF2B5EF4-FFF2-40B4-BE49-F238E27FC236}">
                <a16:creationId xmlns:a16="http://schemas.microsoft.com/office/drawing/2014/main" id="{FA6FA2E3-ACA3-1E19-5FAA-DF1941697FE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C4AE6B9-E943-4EAF-A560-CBFA5357EA60}" type="datetimeFigureOut">
              <a:rPr lang="da-DK" smtClean="0"/>
              <a:t>22-04-2025</a:t>
            </a:fld>
            <a:endParaRPr lang="da-DK"/>
          </a:p>
        </p:txBody>
      </p:sp>
      <p:sp>
        <p:nvSpPr>
          <p:cNvPr id="5" name="Pladsholder til sidefod 4">
            <a:extLst>
              <a:ext uri="{FF2B5EF4-FFF2-40B4-BE49-F238E27FC236}">
                <a16:creationId xmlns:a16="http://schemas.microsoft.com/office/drawing/2014/main" id="{D2AF0B26-D64C-1F08-1DB5-C9A32816834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da-DK"/>
          </a:p>
        </p:txBody>
      </p:sp>
      <p:sp>
        <p:nvSpPr>
          <p:cNvPr id="6" name="Pladsholder til slidenummer 5">
            <a:extLst>
              <a:ext uri="{FF2B5EF4-FFF2-40B4-BE49-F238E27FC236}">
                <a16:creationId xmlns:a16="http://schemas.microsoft.com/office/drawing/2014/main" id="{F561D332-D377-A319-9354-BE70A5D77F0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5A9EE14-3CCE-49CF-9B49-41A7D87911A0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154140161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a-DK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gif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3D9F863-0DA5-A9DE-E93D-CCE4CFBAF1D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Basic R – </a:t>
            </a:r>
            <a:r>
              <a:rPr lang="en-US" dirty="0" err="1"/>
              <a:t>dag</a:t>
            </a:r>
            <a:r>
              <a:rPr lang="en-US" dirty="0"/>
              <a:t> 2</a:t>
            </a:r>
            <a:endParaRPr lang="da-DK" dirty="0"/>
          </a:p>
        </p:txBody>
      </p:sp>
      <p:sp>
        <p:nvSpPr>
          <p:cNvPr id="3" name="Undertitel 2">
            <a:extLst>
              <a:ext uri="{FF2B5EF4-FFF2-40B4-BE49-F238E27FC236}">
                <a16:creationId xmlns:a16="http://schemas.microsoft.com/office/drawing/2014/main" id="{02B4F43F-4BE5-2F86-AB74-69EBC1C07C8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Intro </a:t>
            </a:r>
            <a:r>
              <a:rPr lang="en-US" dirty="0" err="1"/>
              <a:t>til</a:t>
            </a:r>
            <a:r>
              <a:rPr lang="en-US" dirty="0"/>
              <a:t> data </a:t>
            </a:r>
            <a:r>
              <a:rPr lang="en-US" dirty="0" err="1"/>
              <a:t>analyse</a:t>
            </a:r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val="12308137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314" name="Picture 2" descr="Food Memes 🍠🍗🍖🍕🍔🍟🌭🍿🥨🥐🥖🧀 - Geeks + Gamers">
            <a:extLst>
              <a:ext uri="{FF2B5EF4-FFF2-40B4-BE49-F238E27FC236}">
                <a16:creationId xmlns:a16="http://schemas.microsoft.com/office/drawing/2014/main" id="{EF8660DD-1A61-F7E4-F6D5-360BD0224E3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67000" y="0"/>
            <a:ext cx="6858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3734813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9DBC8166-481C-4473-95F5-9A5B9073B7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A5A5CE6E-90AF-4D43-A014-1F9EC83EB9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4512467" cy="6858000"/>
          </a:xfrm>
          <a:custGeom>
            <a:avLst/>
            <a:gdLst>
              <a:gd name="connsiteX0" fmla="*/ 0 w 4512467"/>
              <a:gd name="connsiteY0" fmla="*/ 0 h 6858000"/>
              <a:gd name="connsiteX1" fmla="*/ 2579526 w 4512467"/>
              <a:gd name="connsiteY1" fmla="*/ 0 h 6858000"/>
              <a:gd name="connsiteX2" fmla="*/ 2583267 w 4512467"/>
              <a:gd name="connsiteY2" fmla="*/ 2151 h 6858000"/>
              <a:gd name="connsiteX3" fmla="*/ 4512467 w 4512467"/>
              <a:gd name="connsiteY3" fmla="*/ 3429000 h 6858000"/>
              <a:gd name="connsiteX4" fmla="*/ 2583267 w 4512467"/>
              <a:gd name="connsiteY4" fmla="*/ 6855849 h 6858000"/>
              <a:gd name="connsiteX5" fmla="*/ 2579526 w 4512467"/>
              <a:gd name="connsiteY5" fmla="*/ 6858000 h 6858000"/>
              <a:gd name="connsiteX6" fmla="*/ 0 w 4512467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512467" h="6858000">
                <a:moveTo>
                  <a:pt x="0" y="0"/>
                </a:moveTo>
                <a:lnTo>
                  <a:pt x="2579526" y="0"/>
                </a:lnTo>
                <a:lnTo>
                  <a:pt x="2583267" y="2151"/>
                </a:lnTo>
                <a:cubicBezTo>
                  <a:pt x="3739868" y="704919"/>
                  <a:pt x="4512467" y="1976735"/>
                  <a:pt x="4512467" y="3429000"/>
                </a:cubicBezTo>
                <a:cubicBezTo>
                  <a:pt x="4512467" y="4881266"/>
                  <a:pt x="3739868" y="6153081"/>
                  <a:pt x="2583267" y="6855849"/>
                </a:cubicBezTo>
                <a:lnTo>
                  <a:pt x="2579526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A1495B9F-CEAA-C88E-7F78-7758B929DF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43467"/>
            <a:ext cx="2951205" cy="5571066"/>
          </a:xfrm>
        </p:spPr>
        <p:txBody>
          <a:bodyPr>
            <a:normAutofit/>
          </a:bodyPr>
          <a:lstStyle/>
          <a:p>
            <a:r>
              <a:rPr lang="en-US">
                <a:solidFill>
                  <a:srgbClr val="FFFFFF"/>
                </a:solidFill>
              </a:rPr>
              <a:t>Agenda</a:t>
            </a:r>
            <a:endParaRPr lang="da-DK">
              <a:solidFill>
                <a:srgbClr val="FFFFFF"/>
              </a:solidFill>
            </a:endParaRPr>
          </a:p>
        </p:txBody>
      </p:sp>
      <p:graphicFrame>
        <p:nvGraphicFramePr>
          <p:cNvPr id="5" name="Pladsholder til indhold 2">
            <a:extLst>
              <a:ext uri="{FF2B5EF4-FFF2-40B4-BE49-F238E27FC236}">
                <a16:creationId xmlns:a16="http://schemas.microsoft.com/office/drawing/2014/main" id="{C7C0F459-B1A2-7BE3-CF43-91DC17D7B3C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907560398"/>
              </p:ext>
            </p:extLst>
          </p:nvPr>
        </p:nvGraphicFramePr>
        <p:xfrm>
          <a:off x="5207640" y="643466"/>
          <a:ext cx="6291714" cy="553073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25790896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AFCD89C-9869-0813-DF0E-1547A2647D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Hypotesetest</a:t>
            </a:r>
          </a:p>
        </p:txBody>
      </p:sp>
      <p:pic>
        <p:nvPicPr>
          <p:cNvPr id="3074" name="Picture 2" descr="Hypothesis Testing - Definition, Examples, Formula, Types">
            <a:extLst>
              <a:ext uri="{FF2B5EF4-FFF2-40B4-BE49-F238E27FC236}">
                <a16:creationId xmlns:a16="http://schemas.microsoft.com/office/drawing/2014/main" id="{C9333904-A1BC-3C70-64DA-B6E5B03D4E29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01183" y="2341233"/>
            <a:ext cx="5789634" cy="332012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6927037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7A24DA-38D8-A116-7C23-4F20FB244A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1151244-0A0D-1FDF-7882-EE6AF430B1C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err="1"/>
              <a:t>Øvelse</a:t>
            </a:r>
            <a:r>
              <a:rPr lang="en-US" dirty="0"/>
              <a:t> 3!</a:t>
            </a:r>
            <a:endParaRPr lang="da-DK" dirty="0"/>
          </a:p>
        </p:txBody>
      </p:sp>
      <p:sp>
        <p:nvSpPr>
          <p:cNvPr id="3" name="Undertitel 2">
            <a:extLst>
              <a:ext uri="{FF2B5EF4-FFF2-40B4-BE49-F238E27FC236}">
                <a16:creationId xmlns:a16="http://schemas.microsoft.com/office/drawing/2014/main" id="{BC3D8388-7D9D-493C-7881-38474C5A35C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T-</a:t>
            </a:r>
            <a:r>
              <a:rPr lang="en-US"/>
              <a:t>testen</a:t>
            </a:r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val="299604228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27FB607-6D2E-C5BF-9C9E-DD9E53D70A8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Basic concept 1</a:t>
            </a:r>
            <a:endParaRPr lang="da-DK" dirty="0"/>
          </a:p>
        </p:txBody>
      </p:sp>
      <p:sp>
        <p:nvSpPr>
          <p:cNvPr id="3" name="Undertitel 2">
            <a:extLst>
              <a:ext uri="{FF2B5EF4-FFF2-40B4-BE49-F238E27FC236}">
                <a16:creationId xmlns:a16="http://schemas.microsoft.com/office/drawing/2014/main" id="{267A5B4D-C76A-ECA9-85E3-C41F67416F1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 err="1"/>
              <a:t>Normalfordeling</a:t>
            </a:r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val="24647633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2891F5F-BD18-791A-E23F-628700098BA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err="1"/>
              <a:t>Hvad</a:t>
            </a:r>
            <a:r>
              <a:rPr lang="en-US" dirty="0"/>
              <a:t> er “normal” </a:t>
            </a:r>
            <a:r>
              <a:rPr lang="en-US" dirty="0" err="1"/>
              <a:t>fordeling</a:t>
            </a:r>
            <a:r>
              <a:rPr lang="en-US" dirty="0"/>
              <a:t>?</a:t>
            </a:r>
            <a:endParaRPr lang="da-DK" dirty="0"/>
          </a:p>
        </p:txBody>
      </p:sp>
      <p:sp>
        <p:nvSpPr>
          <p:cNvPr id="3" name="Undertitel 2">
            <a:extLst>
              <a:ext uri="{FF2B5EF4-FFF2-40B4-BE49-F238E27FC236}">
                <a16:creationId xmlns:a16="http://schemas.microsoft.com/office/drawing/2014/main" id="{A9B2B4CA-D31D-E3CE-5E08-C9BE48B27F3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val="219351903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 descr="Normal Distribution meme Meme Generator">
            <a:extLst>
              <a:ext uri="{FF2B5EF4-FFF2-40B4-BE49-F238E27FC236}">
                <a16:creationId xmlns:a16="http://schemas.microsoft.com/office/drawing/2014/main" id="{F32D1A7C-5EC7-120A-553D-C43707DC5B04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28144" y="1253331"/>
            <a:ext cx="7735712" cy="43513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5360380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8" name="Picture 4" descr="What is a Normal Distribution in Statistics? • RPP Baseball">
            <a:extLst>
              <a:ext uri="{FF2B5EF4-FFF2-40B4-BE49-F238E27FC236}">
                <a16:creationId xmlns:a16="http://schemas.microsoft.com/office/drawing/2014/main" id="{DE65F32B-C674-0891-49E4-FC9E7ED2F7A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31455" y="985837"/>
            <a:ext cx="8572500" cy="48863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8588899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0A2DC4B-CB74-6B4B-B694-91AAB018AE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Hvad</a:t>
            </a:r>
            <a:r>
              <a:rPr lang="en-US" dirty="0"/>
              <a:t> er </a:t>
            </a:r>
            <a:r>
              <a:rPr lang="en-US" dirty="0" err="1"/>
              <a:t>normalfordeling</a:t>
            </a:r>
            <a:r>
              <a:rPr lang="en-US" dirty="0"/>
              <a:t> </a:t>
            </a:r>
            <a:r>
              <a:rPr lang="en-US" dirty="0" err="1"/>
              <a:t>så</a:t>
            </a:r>
            <a:r>
              <a:rPr lang="en-US" dirty="0"/>
              <a:t>?</a:t>
            </a:r>
            <a:endParaRPr lang="da-DK" dirty="0"/>
          </a:p>
        </p:txBody>
      </p:sp>
      <p:sp>
        <p:nvSpPr>
          <p:cNvPr id="3" name="Pladsholder til indhold 2">
            <a:extLst>
              <a:ext uri="{FF2B5EF4-FFF2-40B4-BE49-F238E27FC236}">
                <a16:creationId xmlns:a16="http://schemas.microsoft.com/office/drawing/2014/main" id="{FB50FEFC-D48B-9312-CC76-8D9FDF32E17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En </a:t>
            </a:r>
            <a:r>
              <a:rPr lang="en-US" dirty="0" err="1"/>
              <a:t>hyppig</a:t>
            </a:r>
            <a:r>
              <a:rPr lang="en-US" dirty="0"/>
              <a:t> </a:t>
            </a:r>
            <a:r>
              <a:rPr lang="en-US" dirty="0" err="1"/>
              <a:t>måde</a:t>
            </a:r>
            <a:r>
              <a:rPr lang="en-US" dirty="0"/>
              <a:t> for ting at </a:t>
            </a:r>
            <a:r>
              <a:rPr lang="en-US" dirty="0" err="1"/>
              <a:t>fordele</a:t>
            </a:r>
            <a:r>
              <a:rPr lang="en-US" dirty="0"/>
              <a:t> sig </a:t>
            </a:r>
            <a:r>
              <a:rPr lang="en-US" dirty="0" err="1"/>
              <a:t>på</a:t>
            </a:r>
            <a:r>
              <a:rPr lang="en-US" dirty="0"/>
              <a:t> </a:t>
            </a:r>
            <a:r>
              <a:rPr lang="en-US" dirty="0" err="1"/>
              <a:t>i</a:t>
            </a:r>
            <a:r>
              <a:rPr lang="en-US" dirty="0"/>
              <a:t> </a:t>
            </a:r>
            <a:r>
              <a:rPr lang="en-US" dirty="0" err="1"/>
              <a:t>naturen</a:t>
            </a:r>
            <a:endParaRPr lang="en-US" dirty="0"/>
          </a:p>
          <a:p>
            <a:endParaRPr lang="en-US" dirty="0"/>
          </a:p>
          <a:p>
            <a:r>
              <a:rPr lang="en-US" dirty="0"/>
              <a:t>En </a:t>
            </a:r>
            <a:r>
              <a:rPr lang="en-US" dirty="0" err="1"/>
              <a:t>antagelse</a:t>
            </a:r>
            <a:r>
              <a:rPr lang="en-US" dirty="0"/>
              <a:t> for mange </a:t>
            </a:r>
            <a:r>
              <a:rPr lang="en-US" dirty="0" err="1"/>
              <a:t>statistiske</a:t>
            </a:r>
            <a:r>
              <a:rPr lang="en-US" dirty="0"/>
              <a:t> tests</a:t>
            </a:r>
          </a:p>
          <a:p>
            <a:pPr lvl="1"/>
            <a:r>
              <a:rPr lang="en-US" dirty="0" err="1"/>
              <a:t>Også</a:t>
            </a:r>
            <a:r>
              <a:rPr lang="en-US" dirty="0"/>
              <a:t> </a:t>
            </a:r>
            <a:r>
              <a:rPr lang="en-US" dirty="0" err="1"/>
              <a:t>kaldet</a:t>
            </a:r>
            <a:r>
              <a:rPr lang="en-US" dirty="0"/>
              <a:t> “</a:t>
            </a:r>
            <a:r>
              <a:rPr lang="en-US" dirty="0" err="1"/>
              <a:t>parametriske</a:t>
            </a:r>
            <a:r>
              <a:rPr lang="en-US" dirty="0"/>
              <a:t>” tests</a:t>
            </a:r>
          </a:p>
          <a:p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val="101896781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5D8A2BC-074F-7A8C-6B58-B6B0D7D84F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Hvad</a:t>
            </a:r>
            <a:r>
              <a:rPr lang="en-US" dirty="0"/>
              <a:t> er </a:t>
            </a:r>
            <a:r>
              <a:rPr lang="en-US" dirty="0" err="1"/>
              <a:t>normalfordeling</a:t>
            </a:r>
            <a:r>
              <a:rPr lang="en-US" dirty="0"/>
              <a:t> IKKE</a:t>
            </a:r>
            <a:endParaRPr lang="da-DK" dirty="0"/>
          </a:p>
        </p:txBody>
      </p:sp>
      <p:sp>
        <p:nvSpPr>
          <p:cNvPr id="3" name="Pladsholder til indhold 2">
            <a:extLst>
              <a:ext uri="{FF2B5EF4-FFF2-40B4-BE49-F238E27FC236}">
                <a16:creationId xmlns:a16="http://schemas.microsoft.com/office/drawing/2014/main" id="{4E845187-4D97-1905-FA45-1494B0B4225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Magisk</a:t>
            </a:r>
            <a:endParaRPr lang="en-US" dirty="0"/>
          </a:p>
          <a:p>
            <a:r>
              <a:rPr lang="en-US" dirty="0" err="1"/>
              <a:t>Bedre</a:t>
            </a:r>
            <a:r>
              <a:rPr lang="en-US" dirty="0"/>
              <a:t> end </a:t>
            </a:r>
            <a:r>
              <a:rPr lang="en-US" dirty="0" err="1"/>
              <a:t>andre</a:t>
            </a:r>
            <a:r>
              <a:rPr lang="en-US" dirty="0"/>
              <a:t> </a:t>
            </a:r>
            <a:r>
              <a:rPr lang="en-US" dirty="0" err="1"/>
              <a:t>distributioner</a:t>
            </a:r>
            <a:r>
              <a:rPr lang="en-US" dirty="0"/>
              <a:t> </a:t>
            </a:r>
          </a:p>
          <a:p>
            <a:r>
              <a:rPr lang="da-DK" dirty="0"/>
              <a:t>Mere robust </a:t>
            </a:r>
          </a:p>
          <a:p>
            <a:r>
              <a:rPr lang="da-DK" dirty="0"/>
              <a:t>”normalt”</a:t>
            </a:r>
          </a:p>
        </p:txBody>
      </p:sp>
      <p:pic>
        <p:nvPicPr>
          <p:cNvPr id="8194" name="Picture 2">
            <a:extLst>
              <a:ext uri="{FF2B5EF4-FFF2-40B4-BE49-F238E27FC236}">
                <a16:creationId xmlns:a16="http://schemas.microsoft.com/office/drawing/2014/main" id="{CB226D01-CFA7-4D34-457C-F2B44BF512F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6645107" y="1491048"/>
            <a:ext cx="5073127" cy="50731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487732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53334C0-4F3E-1EB9-F5CF-AA34D19C82E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Basic concept 2</a:t>
            </a:r>
            <a:endParaRPr lang="da-DK" dirty="0"/>
          </a:p>
        </p:txBody>
      </p:sp>
      <p:sp>
        <p:nvSpPr>
          <p:cNvPr id="3" name="Undertitel 2">
            <a:extLst>
              <a:ext uri="{FF2B5EF4-FFF2-40B4-BE49-F238E27FC236}">
                <a16:creationId xmlns:a16="http://schemas.microsoft.com/office/drawing/2014/main" id="{4AEB23AA-E908-4756-ABC9-D47B33BDAB6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 err="1"/>
              <a:t>Antagelser</a:t>
            </a:r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val="380582659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 descr="Dare to Compare – Part 2 | Stats With Cats Blog">
            <a:extLst>
              <a:ext uri="{FF2B5EF4-FFF2-40B4-BE49-F238E27FC236}">
                <a16:creationId xmlns:a16="http://schemas.microsoft.com/office/drawing/2014/main" id="{C3117E4A-E9F8-66C4-61CB-3CD7681EDECA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14700" y="1347787"/>
            <a:ext cx="5562600" cy="41624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8248364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Assumptions... Assumptions...everywhere... - Buzz and Woody (Toy Story) Meme  Meme Generator">
            <a:extLst>
              <a:ext uri="{FF2B5EF4-FFF2-40B4-BE49-F238E27FC236}">
                <a16:creationId xmlns:a16="http://schemas.microsoft.com/office/drawing/2014/main" id="{3975D70D-6AF1-C806-AD09-10562F1A4F95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77908" y="1293640"/>
            <a:ext cx="7836183" cy="42707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7432366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AE88613-54FA-B70D-8CC1-08F87F5DDF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For </a:t>
            </a:r>
            <a:r>
              <a:rPr lang="en-US" dirty="0" err="1"/>
              <a:t>resten</a:t>
            </a:r>
            <a:r>
              <a:rPr lang="en-US" dirty="0"/>
              <a:t> </a:t>
            </a:r>
            <a:r>
              <a:rPr lang="en-US" dirty="0" err="1"/>
              <a:t>af</a:t>
            </a:r>
            <a:r>
              <a:rPr lang="en-US" dirty="0"/>
              <a:t> </a:t>
            </a:r>
            <a:r>
              <a:rPr lang="en-US" dirty="0" err="1"/>
              <a:t>kurset</a:t>
            </a:r>
            <a:r>
              <a:rPr lang="en-US" dirty="0"/>
              <a:t>:</a:t>
            </a:r>
            <a:endParaRPr lang="da-DK" dirty="0"/>
          </a:p>
        </p:txBody>
      </p:sp>
      <p:sp>
        <p:nvSpPr>
          <p:cNvPr id="3" name="Pladsholder til indhold 2">
            <a:extLst>
              <a:ext uri="{FF2B5EF4-FFF2-40B4-BE49-F238E27FC236}">
                <a16:creationId xmlns:a16="http://schemas.microsoft.com/office/drawing/2014/main" id="{B800C860-A071-8E38-DA18-E3417C4F71E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Glem</a:t>
            </a:r>
            <a:r>
              <a:rPr lang="en-US" dirty="0"/>
              <a:t> at der </a:t>
            </a:r>
            <a:r>
              <a:rPr lang="en-US" dirty="0" err="1"/>
              <a:t>findes</a:t>
            </a:r>
            <a:r>
              <a:rPr lang="en-US" dirty="0"/>
              <a:t> mange </a:t>
            </a:r>
            <a:r>
              <a:rPr lang="en-US" dirty="0" err="1"/>
              <a:t>antagelser</a:t>
            </a:r>
            <a:endParaRPr lang="en-US" dirty="0"/>
          </a:p>
          <a:p>
            <a:r>
              <a:rPr lang="en-US" dirty="0"/>
              <a:t>Kun </a:t>
            </a:r>
            <a:r>
              <a:rPr lang="en-US" dirty="0" err="1"/>
              <a:t>tænk</a:t>
            </a:r>
            <a:r>
              <a:rPr lang="en-US" dirty="0"/>
              <a:t> </a:t>
            </a:r>
            <a:r>
              <a:rPr lang="en-US" dirty="0" err="1"/>
              <a:t>på</a:t>
            </a:r>
            <a:r>
              <a:rPr lang="en-US" dirty="0"/>
              <a:t> </a:t>
            </a:r>
            <a:r>
              <a:rPr lang="en-US" dirty="0" err="1"/>
              <a:t>antagelser</a:t>
            </a:r>
            <a:r>
              <a:rPr lang="en-US" dirty="0"/>
              <a:t> om </a:t>
            </a:r>
            <a:r>
              <a:rPr lang="en-US" dirty="0" err="1"/>
              <a:t>fordeling</a:t>
            </a:r>
            <a:r>
              <a:rPr lang="en-US" dirty="0"/>
              <a:t> </a:t>
            </a:r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val="413293141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53334C0-4F3E-1EB9-F5CF-AA34D19C82E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Basic concept 3</a:t>
            </a:r>
            <a:endParaRPr lang="da-DK" dirty="0"/>
          </a:p>
        </p:txBody>
      </p:sp>
      <p:sp>
        <p:nvSpPr>
          <p:cNvPr id="3" name="Undertitel 2">
            <a:extLst>
              <a:ext uri="{FF2B5EF4-FFF2-40B4-BE49-F238E27FC236}">
                <a16:creationId xmlns:a16="http://schemas.microsoft.com/office/drawing/2014/main" id="{4AEB23AA-E908-4756-ABC9-D47B33BDAB6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 err="1"/>
              <a:t>Statistiske</a:t>
            </a:r>
            <a:r>
              <a:rPr lang="en-US" dirty="0"/>
              <a:t> </a:t>
            </a:r>
            <a:r>
              <a:rPr lang="en-US" dirty="0" err="1"/>
              <a:t>skoler</a:t>
            </a:r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val="313127996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6" name="Picture 2" descr="Bayesian Statistics: An A/B Tester's ...">
            <a:extLst>
              <a:ext uri="{FF2B5EF4-FFF2-40B4-BE49-F238E27FC236}">
                <a16:creationId xmlns:a16="http://schemas.microsoft.com/office/drawing/2014/main" id="{4AA2F875-7056-ADD6-615B-D8A32D34337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04509" y="832051"/>
            <a:ext cx="2982982" cy="51938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156364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70" name="Picture 2" descr="When I realize I used Bayesian Statistics Unconsciously - Futurama Fry Meme  Generator">
            <a:extLst>
              <a:ext uri="{FF2B5EF4-FFF2-40B4-BE49-F238E27FC236}">
                <a16:creationId xmlns:a16="http://schemas.microsoft.com/office/drawing/2014/main" id="{31194FF0-6DCA-B61B-BE62-2E32EB310C1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38500" y="1290638"/>
            <a:ext cx="5715000" cy="42767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1073244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0580B96-1C09-7A82-61E0-9F939BA154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Tilbage</a:t>
            </a:r>
            <a:r>
              <a:rPr lang="en-US" dirty="0"/>
              <a:t> </a:t>
            </a:r>
            <a:r>
              <a:rPr lang="en-US" dirty="0" err="1"/>
              <a:t>til</a:t>
            </a:r>
            <a:r>
              <a:rPr lang="en-US" dirty="0"/>
              <a:t> R!</a:t>
            </a:r>
            <a:endParaRPr lang="da-DK" dirty="0"/>
          </a:p>
        </p:txBody>
      </p:sp>
      <p:pic>
        <p:nvPicPr>
          <p:cNvPr id="5122" name="Picture 2" descr="YARN | To the Batmobile. | Batman (1966) - S02E55 Black Widow Strikes Again  | Video clips by quotes | 7dfcc713 | 紗">
            <a:extLst>
              <a:ext uri="{FF2B5EF4-FFF2-40B4-BE49-F238E27FC236}">
                <a16:creationId xmlns:a16="http://schemas.microsoft.com/office/drawing/2014/main" id="{1E654B21-E65C-91C7-F43F-C8995001BEE3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91000" y="2572544"/>
            <a:ext cx="3810000" cy="2857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0772909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FE7B735-D3D9-1493-7C0E-0AD96E5D7E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Test </a:t>
            </a:r>
            <a:r>
              <a:rPr lang="en-US" dirty="0" err="1"/>
              <a:t>af</a:t>
            </a:r>
            <a:r>
              <a:rPr lang="en-US" dirty="0"/>
              <a:t> </a:t>
            </a:r>
            <a:r>
              <a:rPr lang="en-US" dirty="0" err="1"/>
              <a:t>normalfordeling</a:t>
            </a:r>
            <a:endParaRPr lang="da-DK" dirty="0"/>
          </a:p>
        </p:txBody>
      </p:sp>
      <p:sp>
        <p:nvSpPr>
          <p:cNvPr id="3" name="Pladsholder til tekst 2">
            <a:extLst>
              <a:ext uri="{FF2B5EF4-FFF2-40B4-BE49-F238E27FC236}">
                <a16:creationId xmlns:a16="http://schemas.microsoft.com/office/drawing/2014/main" id="{F0FD904D-C37E-6C79-AA00-AD9F191AA05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16150452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C46C9F1-CB9D-0775-D862-7FF908E439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Metode</a:t>
            </a:r>
            <a:r>
              <a:rPr lang="en-US" dirty="0"/>
              <a:t> 1: Quick and dirty</a:t>
            </a:r>
            <a:endParaRPr lang="da-DK" dirty="0"/>
          </a:p>
        </p:txBody>
      </p:sp>
      <p:sp>
        <p:nvSpPr>
          <p:cNvPr id="3" name="Pladsholder til indhold 2">
            <a:extLst>
              <a:ext uri="{FF2B5EF4-FFF2-40B4-BE49-F238E27FC236}">
                <a16:creationId xmlns:a16="http://schemas.microsoft.com/office/drawing/2014/main" id="{D4F49975-E43F-C459-8C5F-A324A0E1167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Step 1: Ser det her </a:t>
            </a:r>
            <a:r>
              <a:rPr lang="en-US" dirty="0" err="1"/>
              <a:t>normaltfordelt</a:t>
            </a:r>
            <a:r>
              <a:rPr lang="en-US" dirty="0"/>
              <a:t> </a:t>
            </a:r>
            <a:r>
              <a:rPr lang="en-US" dirty="0" err="1"/>
              <a:t>ud</a:t>
            </a:r>
            <a:r>
              <a:rPr lang="en-US" dirty="0"/>
              <a:t>?</a:t>
            </a:r>
          </a:p>
          <a:p>
            <a:r>
              <a:rPr lang="en-US" dirty="0"/>
              <a:t>Step 2: done </a:t>
            </a:r>
            <a:endParaRPr lang="da-DK" dirty="0"/>
          </a:p>
        </p:txBody>
      </p:sp>
      <p:pic>
        <p:nvPicPr>
          <p:cNvPr id="5" name="Billede 4">
            <a:extLst>
              <a:ext uri="{FF2B5EF4-FFF2-40B4-BE49-F238E27FC236}">
                <a16:creationId xmlns:a16="http://schemas.microsoft.com/office/drawing/2014/main" id="{A9187537-A533-0658-07FA-0AE4A7E20BE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67409" y="2997133"/>
            <a:ext cx="3675821" cy="3390829"/>
          </a:xfrm>
          <a:prstGeom prst="rect">
            <a:avLst/>
          </a:prstGeom>
        </p:spPr>
      </p:pic>
      <p:pic>
        <p:nvPicPr>
          <p:cNvPr id="7" name="Billede 6">
            <a:extLst>
              <a:ext uri="{FF2B5EF4-FFF2-40B4-BE49-F238E27FC236}">
                <a16:creationId xmlns:a16="http://schemas.microsoft.com/office/drawing/2014/main" id="{80B76F88-EFF0-2E89-2D27-474A07043A0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403036" y="3591034"/>
            <a:ext cx="3145735" cy="2901840"/>
          </a:xfrm>
          <a:prstGeom prst="rect">
            <a:avLst/>
          </a:prstGeom>
        </p:spPr>
      </p:pic>
      <p:pic>
        <p:nvPicPr>
          <p:cNvPr id="8" name="Billede 7">
            <a:extLst>
              <a:ext uri="{FF2B5EF4-FFF2-40B4-BE49-F238E27FC236}">
                <a16:creationId xmlns:a16="http://schemas.microsoft.com/office/drawing/2014/main" id="{AA0D8826-AC1C-6CCE-89BD-090364105A9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251861" y="428348"/>
            <a:ext cx="3013417" cy="2779781"/>
          </a:xfrm>
          <a:prstGeom prst="rect">
            <a:avLst/>
          </a:prstGeom>
        </p:spPr>
      </p:pic>
      <p:pic>
        <p:nvPicPr>
          <p:cNvPr id="10" name="Billede 9">
            <a:extLst>
              <a:ext uri="{FF2B5EF4-FFF2-40B4-BE49-F238E27FC236}">
                <a16:creationId xmlns:a16="http://schemas.microsoft.com/office/drawing/2014/main" id="{CDD6C732-68FB-1302-AB9D-2AC486F91114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532818" y="3649872"/>
            <a:ext cx="2410238" cy="2223369"/>
          </a:xfrm>
          <a:prstGeom prst="rect">
            <a:avLst/>
          </a:prstGeom>
        </p:spPr>
      </p:pic>
      <p:pic>
        <p:nvPicPr>
          <p:cNvPr id="11" name="Billede 10">
            <a:extLst>
              <a:ext uri="{FF2B5EF4-FFF2-40B4-BE49-F238E27FC236}">
                <a16:creationId xmlns:a16="http://schemas.microsoft.com/office/drawing/2014/main" id="{C6E9B394-2542-EC36-673A-7A11828DAEDF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728791" y="2862069"/>
            <a:ext cx="2539447" cy="2342560"/>
          </a:xfrm>
          <a:prstGeom prst="rect">
            <a:avLst/>
          </a:prstGeom>
        </p:spPr>
      </p:pic>
      <p:sp>
        <p:nvSpPr>
          <p:cNvPr id="13" name="Ellipse 12">
            <a:extLst>
              <a:ext uri="{FF2B5EF4-FFF2-40B4-BE49-F238E27FC236}">
                <a16:creationId xmlns:a16="http://schemas.microsoft.com/office/drawing/2014/main" id="{B35EA0DE-C46C-3860-6471-BE322E1EE5E8}"/>
              </a:ext>
            </a:extLst>
          </p:cNvPr>
          <p:cNvSpPr/>
          <p:nvPr/>
        </p:nvSpPr>
        <p:spPr>
          <a:xfrm>
            <a:off x="4473439" y="3580862"/>
            <a:ext cx="2970970" cy="2660211"/>
          </a:xfrm>
          <a:prstGeom prst="ellipse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  <p:sp>
        <p:nvSpPr>
          <p:cNvPr id="14" name="Ellipse 13">
            <a:extLst>
              <a:ext uri="{FF2B5EF4-FFF2-40B4-BE49-F238E27FC236}">
                <a16:creationId xmlns:a16="http://schemas.microsoft.com/office/drawing/2014/main" id="{AF6CB769-DABC-19EB-72A6-88A32AED1235}"/>
              </a:ext>
            </a:extLst>
          </p:cNvPr>
          <p:cNvSpPr/>
          <p:nvPr/>
        </p:nvSpPr>
        <p:spPr>
          <a:xfrm>
            <a:off x="9182826" y="3081269"/>
            <a:ext cx="3101938" cy="3095694"/>
          </a:xfrm>
          <a:prstGeom prst="ellipse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12048734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13" grpId="0" animBg="1"/>
      <p:bldP spid="14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A193CD5-F62F-549E-8996-37160D8B46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Metode</a:t>
            </a:r>
            <a:r>
              <a:rPr lang="en-US" dirty="0"/>
              <a:t> 2: QQ-plots</a:t>
            </a:r>
            <a:endParaRPr lang="da-DK" dirty="0"/>
          </a:p>
        </p:txBody>
      </p:sp>
      <p:sp>
        <p:nvSpPr>
          <p:cNvPr id="3" name="Pladsholder til indhold 2">
            <a:extLst>
              <a:ext uri="{FF2B5EF4-FFF2-40B4-BE49-F238E27FC236}">
                <a16:creationId xmlns:a16="http://schemas.microsoft.com/office/drawing/2014/main" id="{26F25676-1764-1CB1-3F63-5250010F52D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Lav</a:t>
            </a:r>
            <a:r>
              <a:rPr lang="en-US" dirty="0"/>
              <a:t> et QQ-plot </a:t>
            </a:r>
          </a:p>
          <a:p>
            <a:r>
              <a:rPr lang="en-US" dirty="0" err="1"/>
              <a:t>Hvis</a:t>
            </a:r>
            <a:r>
              <a:rPr lang="en-US" dirty="0"/>
              <a:t> de </a:t>
            </a:r>
            <a:r>
              <a:rPr lang="en-US" dirty="0" err="1"/>
              <a:t>falder</a:t>
            </a:r>
            <a:r>
              <a:rPr lang="en-US" dirty="0"/>
              <a:t> </a:t>
            </a:r>
            <a:r>
              <a:rPr lang="en-US" dirty="0" err="1"/>
              <a:t>på</a:t>
            </a:r>
            <a:r>
              <a:rPr lang="en-US" dirty="0"/>
              <a:t> </a:t>
            </a:r>
            <a:r>
              <a:rPr lang="en-US" dirty="0" err="1"/>
              <a:t>en</a:t>
            </a:r>
            <a:r>
              <a:rPr lang="en-US" dirty="0"/>
              <a:t> </a:t>
            </a:r>
            <a:r>
              <a:rPr lang="en-US" dirty="0" err="1"/>
              <a:t>lige</a:t>
            </a:r>
            <a:r>
              <a:rPr lang="en-US" dirty="0"/>
              <a:t> </a:t>
            </a:r>
            <a:r>
              <a:rPr lang="en-US" dirty="0" err="1"/>
              <a:t>linje</a:t>
            </a:r>
            <a:r>
              <a:rPr lang="en-US" dirty="0"/>
              <a:t> er det </a:t>
            </a:r>
            <a:r>
              <a:rPr lang="en-US" dirty="0" err="1"/>
              <a:t>normalfordelt</a:t>
            </a:r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val="170259463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D147CD3-C20F-B650-4051-8B93D4102B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Metode</a:t>
            </a:r>
            <a:r>
              <a:rPr lang="en-US" dirty="0"/>
              <a:t> 3: Frequentists tests</a:t>
            </a:r>
            <a:endParaRPr lang="da-DK" dirty="0"/>
          </a:p>
        </p:txBody>
      </p:sp>
      <p:sp>
        <p:nvSpPr>
          <p:cNvPr id="3" name="Pladsholder til indhold 2">
            <a:extLst>
              <a:ext uri="{FF2B5EF4-FFF2-40B4-BE49-F238E27FC236}">
                <a16:creationId xmlns:a16="http://schemas.microsoft.com/office/drawing/2014/main" id="{7292B951-6BD8-A8E4-CEE5-868317FCB2A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Statistisk</a:t>
            </a:r>
            <a:r>
              <a:rPr lang="en-US" dirty="0"/>
              <a:t> test for </a:t>
            </a:r>
            <a:r>
              <a:rPr lang="en-US" dirty="0" err="1"/>
              <a:t>normalfordeling</a:t>
            </a:r>
            <a:r>
              <a:rPr lang="en-US" dirty="0"/>
              <a:t> </a:t>
            </a:r>
          </a:p>
          <a:p>
            <a:r>
              <a:rPr lang="en-US" dirty="0" err="1"/>
              <a:t>Findes</a:t>
            </a:r>
            <a:r>
              <a:rPr lang="en-US" dirty="0"/>
              <a:t> mange </a:t>
            </a:r>
            <a:r>
              <a:rPr lang="en-US" dirty="0" err="1"/>
              <a:t>forskellige</a:t>
            </a:r>
            <a:r>
              <a:rPr lang="en-US" dirty="0"/>
              <a:t> der </a:t>
            </a:r>
            <a:r>
              <a:rPr lang="en-US" dirty="0" err="1"/>
              <a:t>har</a:t>
            </a:r>
            <a:r>
              <a:rPr lang="en-US" dirty="0"/>
              <a:t> </a:t>
            </a:r>
            <a:r>
              <a:rPr lang="en-US" dirty="0" err="1"/>
              <a:t>fordele</a:t>
            </a:r>
            <a:r>
              <a:rPr lang="en-US" dirty="0"/>
              <a:t> </a:t>
            </a:r>
            <a:r>
              <a:rPr lang="en-US" dirty="0" err="1"/>
              <a:t>og</a:t>
            </a:r>
            <a:r>
              <a:rPr lang="en-US" dirty="0"/>
              <a:t> </a:t>
            </a:r>
            <a:r>
              <a:rPr lang="en-US" dirty="0" err="1"/>
              <a:t>ulemper</a:t>
            </a:r>
            <a:r>
              <a:rPr lang="en-US" dirty="0"/>
              <a:t>.</a:t>
            </a:r>
          </a:p>
          <a:p>
            <a:r>
              <a:rPr lang="en-US" dirty="0" err="1"/>
              <a:t>Mest</a:t>
            </a:r>
            <a:r>
              <a:rPr lang="en-US" dirty="0"/>
              <a:t> </a:t>
            </a:r>
            <a:r>
              <a:rPr lang="en-US" dirty="0" err="1"/>
              <a:t>almindelige</a:t>
            </a:r>
            <a:r>
              <a:rPr lang="en-US" dirty="0"/>
              <a:t> er Shapiro-Wilk</a:t>
            </a:r>
          </a:p>
          <a:p>
            <a:pPr lvl="1"/>
            <a:r>
              <a:rPr lang="en-US" dirty="0"/>
              <a:t>Tester om det er </a:t>
            </a:r>
            <a:r>
              <a:rPr lang="en-US" dirty="0" err="1"/>
              <a:t>forskelligt</a:t>
            </a:r>
            <a:r>
              <a:rPr lang="en-US" dirty="0"/>
              <a:t> </a:t>
            </a:r>
            <a:r>
              <a:rPr lang="en-US" dirty="0" err="1"/>
              <a:t>fra</a:t>
            </a:r>
            <a:r>
              <a:rPr lang="en-US" dirty="0"/>
              <a:t> </a:t>
            </a:r>
            <a:r>
              <a:rPr lang="en-US" dirty="0" err="1"/>
              <a:t>en</a:t>
            </a:r>
            <a:r>
              <a:rPr lang="en-US" dirty="0"/>
              <a:t> </a:t>
            </a:r>
            <a:r>
              <a:rPr lang="en-US" dirty="0" err="1"/>
              <a:t>normalfordeling</a:t>
            </a:r>
            <a:r>
              <a:rPr lang="en-US" dirty="0"/>
              <a:t> </a:t>
            </a:r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val="120835188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9401184-2E7A-1556-2264-13F14738696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err="1"/>
              <a:t>Øvelse</a:t>
            </a:r>
            <a:r>
              <a:rPr lang="en-US" dirty="0"/>
              <a:t> 4!</a:t>
            </a:r>
            <a:endParaRPr lang="da-DK" dirty="0"/>
          </a:p>
        </p:txBody>
      </p:sp>
      <p:sp>
        <p:nvSpPr>
          <p:cNvPr id="3" name="Undertitel 2">
            <a:extLst>
              <a:ext uri="{FF2B5EF4-FFF2-40B4-BE49-F238E27FC236}">
                <a16:creationId xmlns:a16="http://schemas.microsoft.com/office/drawing/2014/main" id="{34F64E3F-CE8A-368F-F0D5-C1D352155B3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 err="1"/>
              <a:t>Fordeling</a:t>
            </a:r>
            <a:r>
              <a:rPr lang="en-US" dirty="0"/>
              <a:t> </a:t>
            </a:r>
            <a:r>
              <a:rPr lang="en-US" dirty="0" err="1"/>
              <a:t>af</a:t>
            </a:r>
            <a:r>
              <a:rPr lang="en-US" dirty="0"/>
              <a:t> data</a:t>
            </a:r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val="39533334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42" name="Picture 2" descr="STATISTICAL TESTING. Overview of most common Statistical… | by  Kallepalliravi | Analytics Vidhya | Medium">
            <a:extLst>
              <a:ext uri="{FF2B5EF4-FFF2-40B4-BE49-F238E27FC236}">
                <a16:creationId xmlns:a16="http://schemas.microsoft.com/office/drawing/2014/main" id="{9CA912AE-6006-C0FB-55F9-3AB6A7FA7EB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33713" y="1119188"/>
            <a:ext cx="6124575" cy="46196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6073829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391938A-321F-4AA9-7531-236A2DBE29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T-Test – den alle </a:t>
            </a:r>
            <a:r>
              <a:rPr lang="en-US" dirty="0" err="1"/>
              <a:t>kender</a:t>
            </a:r>
            <a:r>
              <a:rPr lang="en-US" dirty="0"/>
              <a:t> </a:t>
            </a:r>
            <a:r>
              <a:rPr lang="en-US" dirty="0" err="1"/>
              <a:t>og</a:t>
            </a:r>
            <a:r>
              <a:rPr lang="en-US" dirty="0"/>
              <a:t> </a:t>
            </a:r>
            <a:r>
              <a:rPr lang="en-US" dirty="0" err="1"/>
              <a:t>misbruger</a:t>
            </a:r>
            <a:endParaRPr lang="da-DK" dirty="0"/>
          </a:p>
        </p:txBody>
      </p:sp>
      <p:pic>
        <p:nvPicPr>
          <p:cNvPr id="11266" name="Picture 2" descr="statistics meme #3 : r/mathmemes">
            <a:extLst>
              <a:ext uri="{FF2B5EF4-FFF2-40B4-BE49-F238E27FC236}">
                <a16:creationId xmlns:a16="http://schemas.microsoft.com/office/drawing/2014/main" id="{9D32E908-7483-A4F8-CD3B-422F99F333A3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31469" y="1825625"/>
            <a:ext cx="2729062" cy="43513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9532883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D47315F-71BF-9490-E0D9-E5A56A063B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Statistiske</a:t>
            </a:r>
            <a:r>
              <a:rPr lang="en-US" dirty="0"/>
              <a:t> test 101</a:t>
            </a:r>
            <a:endParaRPr lang="da-DK" dirty="0"/>
          </a:p>
        </p:txBody>
      </p:sp>
      <p:sp>
        <p:nvSpPr>
          <p:cNvPr id="5" name="Tekstfelt 4">
            <a:extLst>
              <a:ext uri="{FF2B5EF4-FFF2-40B4-BE49-F238E27FC236}">
                <a16:creationId xmlns:a16="http://schemas.microsoft.com/office/drawing/2014/main" id="{76332FE6-AA48-CB4B-0871-4C87F7A8D899}"/>
              </a:ext>
            </a:extLst>
          </p:cNvPr>
          <p:cNvSpPr txBox="1"/>
          <p:nvPr/>
        </p:nvSpPr>
        <p:spPr>
          <a:xfrm>
            <a:off x="6805819" y="6492875"/>
            <a:ext cx="609765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a-DK" dirty="0"/>
              <a:t>https://www.scribbr.com/statistics/statistical-tests/</a:t>
            </a:r>
          </a:p>
        </p:txBody>
      </p:sp>
      <p:graphicFrame>
        <p:nvGraphicFramePr>
          <p:cNvPr id="7" name="Tabel 6">
            <a:extLst>
              <a:ext uri="{FF2B5EF4-FFF2-40B4-BE49-F238E27FC236}">
                <a16:creationId xmlns:a16="http://schemas.microsoft.com/office/drawing/2014/main" id="{018F0827-B15C-4672-485B-C9AC814D122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55991208"/>
              </p:ext>
            </p:extLst>
          </p:nvPr>
        </p:nvGraphicFramePr>
        <p:xfrm>
          <a:off x="923889" y="1822104"/>
          <a:ext cx="10814225" cy="4565156"/>
        </p:xfrm>
        <a:graphic>
          <a:graphicData uri="http://schemas.openxmlformats.org/drawingml/2006/table">
            <a:tbl>
              <a:tblPr firstRow="1">
                <a:tableStyleId>{69012ECD-51FC-41F1-AA8D-1B2483CD663E}</a:tableStyleId>
              </a:tblPr>
              <a:tblGrid>
                <a:gridCol w="2162845">
                  <a:extLst>
                    <a:ext uri="{9D8B030D-6E8A-4147-A177-3AD203B41FA5}">
                      <a16:colId xmlns:a16="http://schemas.microsoft.com/office/drawing/2014/main" val="2468181423"/>
                    </a:ext>
                  </a:extLst>
                </a:gridCol>
                <a:gridCol w="2162845">
                  <a:extLst>
                    <a:ext uri="{9D8B030D-6E8A-4147-A177-3AD203B41FA5}">
                      <a16:colId xmlns:a16="http://schemas.microsoft.com/office/drawing/2014/main" val="1245034961"/>
                    </a:ext>
                  </a:extLst>
                </a:gridCol>
                <a:gridCol w="2162845">
                  <a:extLst>
                    <a:ext uri="{9D8B030D-6E8A-4147-A177-3AD203B41FA5}">
                      <a16:colId xmlns:a16="http://schemas.microsoft.com/office/drawing/2014/main" val="2478939670"/>
                    </a:ext>
                  </a:extLst>
                </a:gridCol>
                <a:gridCol w="2162845">
                  <a:extLst>
                    <a:ext uri="{9D8B030D-6E8A-4147-A177-3AD203B41FA5}">
                      <a16:colId xmlns:a16="http://schemas.microsoft.com/office/drawing/2014/main" val="150449402"/>
                    </a:ext>
                  </a:extLst>
                </a:gridCol>
                <a:gridCol w="2162845">
                  <a:extLst>
                    <a:ext uri="{9D8B030D-6E8A-4147-A177-3AD203B41FA5}">
                      <a16:colId xmlns:a16="http://schemas.microsoft.com/office/drawing/2014/main" val="2340002696"/>
                    </a:ext>
                  </a:extLst>
                </a:gridCol>
              </a:tblGrid>
              <a:tr h="304289">
                <a:tc>
                  <a:txBody>
                    <a:bodyPr/>
                    <a:lstStyle/>
                    <a:p>
                      <a:pPr algn="ctr" fontAlgn="t"/>
                      <a:r>
                        <a:rPr lang="en-US" sz="1600" dirty="0" err="1">
                          <a:effectLst/>
                        </a:rPr>
                        <a:t>Parametrisk</a:t>
                      </a:r>
                      <a:endParaRPr lang="da-DK" sz="1600" dirty="0">
                        <a:effectLst/>
                      </a:endParaRPr>
                    </a:p>
                  </a:txBody>
                  <a:tcPr marL="30429" marR="30429" marT="15214" marB="15214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600" dirty="0">
                          <a:effectLst/>
                        </a:rPr>
                        <a:t>Non-</a:t>
                      </a:r>
                      <a:r>
                        <a:rPr lang="en-US" sz="1600" dirty="0" err="1">
                          <a:effectLst/>
                        </a:rPr>
                        <a:t>parametrisk</a:t>
                      </a:r>
                      <a:endParaRPr lang="da-DK" sz="1600" dirty="0">
                        <a:effectLst/>
                      </a:endParaRPr>
                    </a:p>
                  </a:txBody>
                  <a:tcPr marL="30429" marR="30429" marT="15214" marB="15214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da-DK" sz="1600" dirty="0" err="1">
                          <a:effectLst/>
                        </a:rPr>
                        <a:t>Predictor</a:t>
                      </a:r>
                      <a:r>
                        <a:rPr lang="da-DK" sz="1600" dirty="0">
                          <a:effectLst/>
                        </a:rPr>
                        <a:t> variabel</a:t>
                      </a:r>
                    </a:p>
                  </a:txBody>
                  <a:tcPr marL="30429" marR="30429" marT="15214" marB="15214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da-DK" sz="1600" dirty="0" err="1">
                          <a:effectLst/>
                        </a:rPr>
                        <a:t>Outcome</a:t>
                      </a:r>
                      <a:r>
                        <a:rPr lang="da-DK" sz="1600" dirty="0">
                          <a:effectLst/>
                        </a:rPr>
                        <a:t> variabel</a:t>
                      </a:r>
                    </a:p>
                  </a:txBody>
                  <a:tcPr marL="30429" marR="30429" marT="15214" marB="15214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da-DK" sz="1600" dirty="0">
                          <a:effectLst/>
                        </a:rPr>
                        <a:t>Research </a:t>
                      </a:r>
                      <a:r>
                        <a:rPr lang="da-DK" sz="1600" dirty="0" err="1">
                          <a:effectLst/>
                        </a:rPr>
                        <a:t>question</a:t>
                      </a:r>
                      <a:r>
                        <a:rPr lang="da-DK" sz="1600" dirty="0">
                          <a:effectLst/>
                        </a:rPr>
                        <a:t> </a:t>
                      </a:r>
                      <a:r>
                        <a:rPr lang="da-DK" sz="1600" dirty="0" err="1">
                          <a:effectLst/>
                        </a:rPr>
                        <a:t>example</a:t>
                      </a:r>
                      <a:endParaRPr lang="da-DK" sz="1600" dirty="0">
                        <a:effectLst/>
                      </a:endParaRPr>
                    </a:p>
                  </a:txBody>
                  <a:tcPr marL="30429" marR="30429" marT="15214" marB="15214"/>
                </a:tc>
                <a:extLst>
                  <a:ext uri="{0D108BD9-81ED-4DB2-BD59-A6C34878D82A}">
                    <a16:rowId xmlns:a16="http://schemas.microsoft.com/office/drawing/2014/main" val="940706485"/>
                  </a:ext>
                </a:extLst>
              </a:tr>
              <a:tr h="1308444">
                <a:tc>
                  <a:txBody>
                    <a:bodyPr/>
                    <a:lstStyle/>
                    <a:p>
                      <a:pPr algn="ctr" fontAlgn="t"/>
                      <a:r>
                        <a:rPr lang="da-DK" sz="1600" dirty="0" err="1">
                          <a:effectLst/>
                        </a:rPr>
                        <a:t>Paired</a:t>
                      </a:r>
                      <a:r>
                        <a:rPr lang="da-DK" sz="1600" dirty="0">
                          <a:effectLst/>
                        </a:rPr>
                        <a:t> t-test</a:t>
                      </a:r>
                    </a:p>
                  </a:txBody>
                  <a:tcPr marL="30429" marR="30429" marT="15214" marB="15214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600" dirty="0">
                          <a:effectLst/>
                        </a:rPr>
                        <a:t>Wilcoxon signed rank test</a:t>
                      </a:r>
                      <a:endParaRPr lang="da-DK" sz="1600" dirty="0">
                        <a:effectLst/>
                      </a:endParaRPr>
                    </a:p>
                  </a:txBody>
                  <a:tcPr marL="30429" marR="30429" marT="15214" marB="15214"/>
                </a:tc>
                <a:tc>
                  <a:txBody>
                    <a:bodyPr/>
                    <a:lstStyle/>
                    <a:p>
                      <a:pPr algn="ctr" fontAlgn="t">
                        <a:buFont typeface="Arial" panose="020B0604020202020204" pitchFamily="34" charset="0"/>
                        <a:buChar char="•"/>
                      </a:pPr>
                      <a:r>
                        <a:rPr lang="da-DK" sz="1600" dirty="0">
                          <a:effectLst/>
                        </a:rPr>
                        <a:t>Kategorisk </a:t>
                      </a:r>
                    </a:p>
                    <a:p>
                      <a:pPr algn="ctr" fontAlgn="t">
                        <a:buFont typeface="Arial" panose="020B0604020202020204" pitchFamily="34" charset="0"/>
                        <a:buChar char="•"/>
                      </a:pPr>
                      <a:r>
                        <a:rPr lang="da-DK" sz="1600" dirty="0">
                          <a:effectLst/>
                        </a:rPr>
                        <a:t>1 </a:t>
                      </a:r>
                      <a:r>
                        <a:rPr lang="da-DK" sz="1600" dirty="0" err="1">
                          <a:effectLst/>
                        </a:rPr>
                        <a:t>predictor</a:t>
                      </a:r>
                      <a:endParaRPr lang="da-DK" sz="1600" dirty="0">
                        <a:effectLst/>
                      </a:endParaRPr>
                    </a:p>
                  </a:txBody>
                  <a:tcPr marL="30429" marR="30429" marT="15214" marB="15214"/>
                </a:tc>
                <a:tc>
                  <a:txBody>
                    <a:bodyPr/>
                    <a:lstStyle/>
                    <a:p>
                      <a:pPr algn="ctr" fontAlgn="t">
                        <a:buFont typeface="Arial" panose="020B0604020202020204" pitchFamily="34" charset="0"/>
                        <a:buChar char="•"/>
                      </a:pPr>
                      <a:r>
                        <a:rPr lang="en-US" sz="1600" dirty="0" err="1">
                          <a:effectLst/>
                        </a:rPr>
                        <a:t>Kvantitativ</a:t>
                      </a:r>
                      <a:endParaRPr lang="en-US" sz="1600" dirty="0">
                        <a:effectLst/>
                      </a:endParaRPr>
                    </a:p>
                    <a:p>
                      <a:pPr algn="ctr" fontAlgn="t">
                        <a:buFont typeface="Arial" panose="020B0604020202020204" pitchFamily="34" charset="0"/>
                        <a:buChar char="•"/>
                      </a:pPr>
                      <a:r>
                        <a:rPr lang="en-US" sz="1600" dirty="0" err="1">
                          <a:effectLst/>
                        </a:rPr>
                        <a:t>Grupper</a:t>
                      </a:r>
                      <a:r>
                        <a:rPr lang="en-US" sz="1600" dirty="0">
                          <a:effectLst/>
                        </a:rPr>
                        <a:t> </a:t>
                      </a:r>
                      <a:r>
                        <a:rPr lang="en-US" sz="1600" dirty="0" err="1">
                          <a:effectLst/>
                        </a:rPr>
                        <a:t>fra</a:t>
                      </a:r>
                      <a:r>
                        <a:rPr lang="en-US" sz="1600" dirty="0">
                          <a:effectLst/>
                        </a:rPr>
                        <a:t> </a:t>
                      </a:r>
                      <a:r>
                        <a:rPr lang="en-US" sz="1600" dirty="0" err="1">
                          <a:effectLst/>
                        </a:rPr>
                        <a:t>samme</a:t>
                      </a:r>
                      <a:r>
                        <a:rPr lang="en-US" sz="1600" dirty="0">
                          <a:effectLst/>
                        </a:rPr>
                        <a:t> population</a:t>
                      </a:r>
                    </a:p>
                  </a:txBody>
                  <a:tcPr marL="30429" marR="30429" marT="15214" marB="15214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600" dirty="0">
                          <a:effectLst/>
                        </a:rPr>
                        <a:t>Er der </a:t>
                      </a:r>
                      <a:r>
                        <a:rPr lang="en-US" sz="1600" dirty="0" err="1">
                          <a:effectLst/>
                        </a:rPr>
                        <a:t>forskel</a:t>
                      </a:r>
                      <a:r>
                        <a:rPr lang="en-US" sz="1600" dirty="0">
                          <a:effectLst/>
                        </a:rPr>
                        <a:t> </a:t>
                      </a:r>
                      <a:r>
                        <a:rPr lang="en-US" sz="1600" dirty="0" err="1">
                          <a:effectLst/>
                        </a:rPr>
                        <a:t>i</a:t>
                      </a:r>
                      <a:r>
                        <a:rPr lang="en-US" sz="1600" dirty="0">
                          <a:effectLst/>
                        </a:rPr>
                        <a:t> </a:t>
                      </a:r>
                      <a:r>
                        <a:rPr lang="en-US" sz="1600" dirty="0" err="1">
                          <a:effectLst/>
                        </a:rPr>
                        <a:t>hvor</a:t>
                      </a:r>
                      <a:r>
                        <a:rPr lang="en-US" sz="1600" dirty="0">
                          <a:effectLst/>
                        </a:rPr>
                        <a:t> </a:t>
                      </a:r>
                      <a:r>
                        <a:rPr lang="en-US" sz="1600" dirty="0" err="1">
                          <a:effectLst/>
                        </a:rPr>
                        <a:t>hurtigt</a:t>
                      </a:r>
                      <a:r>
                        <a:rPr lang="en-US" sz="1600" dirty="0">
                          <a:effectLst/>
                        </a:rPr>
                        <a:t> I </a:t>
                      </a:r>
                      <a:r>
                        <a:rPr lang="en-US" sz="1600" dirty="0" err="1">
                          <a:effectLst/>
                        </a:rPr>
                        <a:t>skriver</a:t>
                      </a:r>
                      <a:r>
                        <a:rPr lang="en-US" sz="1600" dirty="0">
                          <a:effectLst/>
                        </a:rPr>
                        <a:t> </a:t>
                      </a:r>
                      <a:r>
                        <a:rPr lang="en-US" sz="1600" dirty="0" err="1">
                          <a:effectLst/>
                        </a:rPr>
                        <a:t>kode</a:t>
                      </a:r>
                      <a:r>
                        <a:rPr lang="en-US" sz="1600" dirty="0">
                          <a:effectLst/>
                        </a:rPr>
                        <a:t> </a:t>
                      </a:r>
                      <a:r>
                        <a:rPr lang="en-US" sz="1600" dirty="0" err="1">
                          <a:effectLst/>
                        </a:rPr>
                        <a:t>før</a:t>
                      </a:r>
                      <a:r>
                        <a:rPr lang="en-US" sz="1600" dirty="0">
                          <a:effectLst/>
                        </a:rPr>
                        <a:t> </a:t>
                      </a:r>
                      <a:r>
                        <a:rPr lang="en-US" sz="1600" dirty="0" err="1">
                          <a:effectLst/>
                        </a:rPr>
                        <a:t>og</a:t>
                      </a:r>
                      <a:r>
                        <a:rPr lang="en-US" sz="1600" dirty="0">
                          <a:effectLst/>
                        </a:rPr>
                        <a:t> </a:t>
                      </a:r>
                      <a:r>
                        <a:rPr lang="en-US" sz="1600" dirty="0" err="1">
                          <a:effectLst/>
                        </a:rPr>
                        <a:t>efter</a:t>
                      </a:r>
                      <a:r>
                        <a:rPr lang="en-US" sz="1600" dirty="0">
                          <a:effectLst/>
                        </a:rPr>
                        <a:t> </a:t>
                      </a:r>
                      <a:r>
                        <a:rPr lang="en-US" sz="1600" dirty="0" err="1">
                          <a:effectLst/>
                        </a:rPr>
                        <a:t>kurset</a:t>
                      </a:r>
                      <a:r>
                        <a:rPr lang="en-US" sz="1600" dirty="0">
                          <a:effectLst/>
                        </a:rPr>
                        <a:t>?</a:t>
                      </a:r>
                    </a:p>
                  </a:txBody>
                  <a:tcPr marL="30429" marR="30429" marT="15214" marB="15214"/>
                </a:tc>
                <a:extLst>
                  <a:ext uri="{0D108BD9-81ED-4DB2-BD59-A6C34878D82A}">
                    <a16:rowId xmlns:a16="http://schemas.microsoft.com/office/drawing/2014/main" val="3702121849"/>
                  </a:ext>
                </a:extLst>
              </a:tr>
              <a:tr h="852010">
                <a:tc>
                  <a:txBody>
                    <a:bodyPr/>
                    <a:lstStyle/>
                    <a:p>
                      <a:pPr algn="ctr" fontAlgn="t"/>
                      <a:r>
                        <a:rPr lang="da-DK" sz="1600" dirty="0">
                          <a:effectLst/>
                        </a:rPr>
                        <a:t>Independent t-test</a:t>
                      </a:r>
                    </a:p>
                  </a:txBody>
                  <a:tcPr marL="30429" marR="30429" marT="15214" marB="15214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600" dirty="0">
                          <a:effectLst/>
                        </a:rPr>
                        <a:t>Wilcoxon rank-sum test</a:t>
                      </a:r>
                    </a:p>
                    <a:p>
                      <a:pPr algn="ctr" fontAlgn="t"/>
                      <a:r>
                        <a:rPr lang="en-US" sz="1600" dirty="0">
                          <a:effectLst/>
                        </a:rPr>
                        <a:t>/Mann Whitney U test</a:t>
                      </a:r>
                      <a:endParaRPr lang="da-DK" sz="1600" dirty="0">
                        <a:effectLst/>
                      </a:endParaRPr>
                    </a:p>
                  </a:txBody>
                  <a:tcPr marL="30429" marR="30429" marT="15214" marB="15214"/>
                </a:tc>
                <a:tc>
                  <a:txBody>
                    <a:bodyPr/>
                    <a:lstStyle/>
                    <a:p>
                      <a:pPr algn="ctr" fontAlgn="t">
                        <a:buFont typeface="Arial" panose="020B0604020202020204" pitchFamily="34" charset="0"/>
                        <a:buChar char="•"/>
                      </a:pPr>
                      <a:r>
                        <a:rPr lang="da-DK" sz="1600" dirty="0">
                          <a:effectLst/>
                        </a:rPr>
                        <a:t>Kategorisk</a:t>
                      </a:r>
                    </a:p>
                    <a:p>
                      <a:pPr algn="ctr" fontAlgn="t">
                        <a:buFont typeface="Arial" panose="020B0604020202020204" pitchFamily="34" charset="0"/>
                        <a:buChar char="•"/>
                      </a:pPr>
                      <a:r>
                        <a:rPr lang="da-DK" sz="1600" dirty="0">
                          <a:effectLst/>
                        </a:rPr>
                        <a:t>1 </a:t>
                      </a:r>
                      <a:r>
                        <a:rPr lang="da-DK" sz="1600" dirty="0" err="1">
                          <a:effectLst/>
                        </a:rPr>
                        <a:t>predictor</a:t>
                      </a:r>
                      <a:endParaRPr lang="da-DK" sz="1600" dirty="0">
                        <a:effectLst/>
                      </a:endParaRPr>
                    </a:p>
                  </a:txBody>
                  <a:tcPr marL="30429" marR="30429" marT="15214" marB="15214"/>
                </a:tc>
                <a:tc>
                  <a:txBody>
                    <a:bodyPr/>
                    <a:lstStyle/>
                    <a:p>
                      <a:pPr algn="ctr" fontAlgn="t">
                        <a:buFont typeface="Arial" panose="020B0604020202020204" pitchFamily="34" charset="0"/>
                        <a:buChar char="•"/>
                      </a:pPr>
                      <a:r>
                        <a:rPr lang="en-US" sz="1600" dirty="0" err="1">
                          <a:effectLst/>
                        </a:rPr>
                        <a:t>Kvantitativ</a:t>
                      </a:r>
                      <a:endParaRPr lang="da-DK" sz="1600" dirty="0">
                        <a:effectLst/>
                      </a:endParaRPr>
                    </a:p>
                    <a:p>
                      <a:pPr algn="ctr" fontAlgn="t">
                        <a:buFont typeface="Arial" panose="020B0604020202020204" pitchFamily="34" charset="0"/>
                        <a:buChar char="•"/>
                      </a:pPr>
                      <a:r>
                        <a:rPr lang="da-DK" sz="1600" dirty="0">
                          <a:effectLst/>
                        </a:rPr>
                        <a:t> Grupper fra forskellige populationer</a:t>
                      </a:r>
                    </a:p>
                  </a:txBody>
                  <a:tcPr marL="30429" marR="30429" marT="15214" marB="15214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600" dirty="0" err="1">
                          <a:effectLst/>
                        </a:rPr>
                        <a:t>Hvem</a:t>
                      </a:r>
                      <a:r>
                        <a:rPr lang="en-US" sz="1600" dirty="0">
                          <a:effectLst/>
                        </a:rPr>
                        <a:t> </a:t>
                      </a:r>
                      <a:r>
                        <a:rPr lang="en-US" sz="1600" dirty="0" err="1">
                          <a:effectLst/>
                        </a:rPr>
                        <a:t>blev</a:t>
                      </a:r>
                      <a:r>
                        <a:rPr lang="en-US" sz="1600" dirty="0">
                          <a:effectLst/>
                        </a:rPr>
                        <a:t> </a:t>
                      </a:r>
                      <a:r>
                        <a:rPr lang="en-US" sz="1600" dirty="0" err="1">
                          <a:effectLst/>
                        </a:rPr>
                        <a:t>bedst</a:t>
                      </a:r>
                      <a:r>
                        <a:rPr lang="en-US" sz="1600" dirty="0">
                          <a:effectLst/>
                        </a:rPr>
                        <a:t> </a:t>
                      </a:r>
                      <a:r>
                        <a:rPr lang="en-US" sz="1600" dirty="0" err="1">
                          <a:effectLst/>
                        </a:rPr>
                        <a:t>efter</a:t>
                      </a:r>
                      <a:r>
                        <a:rPr lang="en-US" sz="1600" dirty="0">
                          <a:effectLst/>
                        </a:rPr>
                        <a:t> </a:t>
                      </a:r>
                      <a:r>
                        <a:rPr lang="en-US" sz="1600" dirty="0" err="1">
                          <a:effectLst/>
                        </a:rPr>
                        <a:t>kurset</a:t>
                      </a:r>
                      <a:r>
                        <a:rPr lang="en-US" sz="1600" dirty="0">
                          <a:effectLst/>
                        </a:rPr>
                        <a:t>, dem </a:t>
                      </a:r>
                      <a:r>
                        <a:rPr lang="en-US" sz="1600" dirty="0" err="1">
                          <a:effectLst/>
                        </a:rPr>
                        <a:t>til</a:t>
                      </a:r>
                      <a:r>
                        <a:rPr lang="en-US" sz="1600" dirty="0">
                          <a:effectLst/>
                        </a:rPr>
                        <a:t> </a:t>
                      </a:r>
                      <a:r>
                        <a:rPr lang="en-US" sz="1600" dirty="0" err="1">
                          <a:effectLst/>
                        </a:rPr>
                        <a:t>højre</a:t>
                      </a:r>
                      <a:r>
                        <a:rPr lang="en-US" sz="1600" dirty="0">
                          <a:effectLst/>
                        </a:rPr>
                        <a:t> </a:t>
                      </a:r>
                      <a:r>
                        <a:rPr lang="en-US" sz="1600" dirty="0" err="1">
                          <a:effectLst/>
                        </a:rPr>
                        <a:t>eller</a:t>
                      </a:r>
                      <a:r>
                        <a:rPr lang="en-US" sz="1600" dirty="0">
                          <a:effectLst/>
                        </a:rPr>
                        <a:t> </a:t>
                      </a:r>
                      <a:r>
                        <a:rPr lang="en-US" sz="1600" dirty="0" err="1">
                          <a:effectLst/>
                        </a:rPr>
                        <a:t>venstre</a:t>
                      </a:r>
                      <a:r>
                        <a:rPr lang="en-US" sz="1600" dirty="0">
                          <a:effectLst/>
                        </a:rPr>
                        <a:t>? </a:t>
                      </a:r>
                    </a:p>
                  </a:txBody>
                  <a:tcPr marL="30429" marR="30429" marT="15214" marB="15214"/>
                </a:tc>
                <a:extLst>
                  <a:ext uri="{0D108BD9-81ED-4DB2-BD59-A6C34878D82A}">
                    <a16:rowId xmlns:a16="http://schemas.microsoft.com/office/drawing/2014/main" val="1865672745"/>
                  </a:ext>
                </a:extLst>
              </a:tr>
              <a:tr h="1034584">
                <a:tc>
                  <a:txBody>
                    <a:bodyPr/>
                    <a:lstStyle/>
                    <a:p>
                      <a:pPr algn="ctr" fontAlgn="t"/>
                      <a:r>
                        <a:rPr lang="da-DK" sz="1600" dirty="0">
                          <a:effectLst/>
                        </a:rPr>
                        <a:t>ANOVA</a:t>
                      </a:r>
                    </a:p>
                  </a:txBody>
                  <a:tcPr marL="30429" marR="30429" marT="15214" marB="15214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600" dirty="0">
                          <a:effectLst/>
                        </a:rPr>
                        <a:t>Kruskal-Wallis H</a:t>
                      </a:r>
                      <a:endParaRPr lang="da-DK" sz="1600" dirty="0">
                        <a:effectLst/>
                      </a:endParaRPr>
                    </a:p>
                  </a:txBody>
                  <a:tcPr marL="30429" marR="30429" marT="15214" marB="15214"/>
                </a:tc>
                <a:tc>
                  <a:txBody>
                    <a:bodyPr/>
                    <a:lstStyle/>
                    <a:p>
                      <a:pPr algn="ctr" fontAlgn="t">
                        <a:buFont typeface="Arial" panose="020B0604020202020204" pitchFamily="34" charset="0"/>
                        <a:buChar char="•"/>
                      </a:pPr>
                      <a:r>
                        <a:rPr lang="en-US" sz="1600" dirty="0">
                          <a:effectLst/>
                        </a:rPr>
                        <a:t> </a:t>
                      </a:r>
                      <a:r>
                        <a:rPr lang="en-US" sz="1600" dirty="0" err="1">
                          <a:effectLst/>
                        </a:rPr>
                        <a:t>Kategorisk</a:t>
                      </a:r>
                      <a:endParaRPr lang="en-US" sz="1600" dirty="0">
                        <a:effectLst/>
                      </a:endParaRPr>
                    </a:p>
                    <a:p>
                      <a:pPr algn="ctr" fontAlgn="t">
                        <a:buFont typeface="Arial" panose="020B0604020202020204" pitchFamily="34" charset="0"/>
                        <a:buChar char="•"/>
                      </a:pPr>
                      <a:r>
                        <a:rPr lang="en-US" sz="1600" dirty="0">
                          <a:effectLst/>
                        </a:rPr>
                        <a:t>1 (</a:t>
                      </a:r>
                      <a:r>
                        <a:rPr lang="en-US" sz="1600" dirty="0" err="1">
                          <a:effectLst/>
                        </a:rPr>
                        <a:t>eller</a:t>
                      </a:r>
                      <a:r>
                        <a:rPr lang="en-US" sz="1600" dirty="0">
                          <a:effectLst/>
                        </a:rPr>
                        <a:t> </a:t>
                      </a:r>
                      <a:r>
                        <a:rPr lang="en-US" sz="1600" dirty="0" err="1">
                          <a:effectLst/>
                        </a:rPr>
                        <a:t>flere</a:t>
                      </a:r>
                      <a:r>
                        <a:rPr lang="en-US" sz="1600" dirty="0">
                          <a:effectLst/>
                        </a:rPr>
                        <a:t>) predictor</a:t>
                      </a:r>
                    </a:p>
                  </a:txBody>
                  <a:tcPr marL="30429" marR="30429" marT="15214" marB="15214"/>
                </a:tc>
                <a:tc>
                  <a:txBody>
                    <a:bodyPr/>
                    <a:lstStyle/>
                    <a:p>
                      <a:pPr algn="ctr" fontAlgn="t">
                        <a:buFont typeface="Arial" panose="020B0604020202020204" pitchFamily="34" charset="0"/>
                        <a:buChar char="•"/>
                      </a:pPr>
                      <a:r>
                        <a:rPr lang="en-US" sz="1600" dirty="0" err="1">
                          <a:effectLst/>
                        </a:rPr>
                        <a:t>Kvantitativ</a:t>
                      </a:r>
                      <a:endParaRPr lang="da-DK" sz="1600" dirty="0">
                        <a:effectLst/>
                      </a:endParaRPr>
                    </a:p>
                    <a:p>
                      <a:pPr algn="ctr" fontAlgn="t">
                        <a:buFont typeface="Arial" panose="020B0604020202020204" pitchFamily="34" charset="0"/>
                        <a:buChar char="•"/>
                      </a:pPr>
                      <a:r>
                        <a:rPr lang="da-DK" sz="1600" dirty="0">
                          <a:effectLst/>
                        </a:rPr>
                        <a:t>1 </a:t>
                      </a:r>
                      <a:r>
                        <a:rPr lang="da-DK" sz="1600" dirty="0" err="1">
                          <a:effectLst/>
                        </a:rPr>
                        <a:t>outcome</a:t>
                      </a:r>
                      <a:endParaRPr lang="da-DK" sz="1600" dirty="0">
                        <a:effectLst/>
                      </a:endParaRPr>
                    </a:p>
                  </a:txBody>
                  <a:tcPr marL="30429" marR="30429" marT="15214" marB="15214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600" dirty="0">
                          <a:effectLst/>
                        </a:rPr>
                        <a:t>Er der </a:t>
                      </a:r>
                      <a:r>
                        <a:rPr lang="en-US" sz="1600" dirty="0" err="1">
                          <a:effectLst/>
                        </a:rPr>
                        <a:t>forskel</a:t>
                      </a:r>
                      <a:r>
                        <a:rPr lang="en-US" sz="1600" dirty="0">
                          <a:effectLst/>
                        </a:rPr>
                        <a:t> </a:t>
                      </a:r>
                      <a:r>
                        <a:rPr lang="en-US" sz="1600" dirty="0" err="1">
                          <a:effectLst/>
                        </a:rPr>
                        <a:t>imellem</a:t>
                      </a:r>
                      <a:r>
                        <a:rPr lang="en-US" sz="1600" dirty="0">
                          <a:effectLst/>
                        </a:rPr>
                        <a:t> </a:t>
                      </a:r>
                      <a:r>
                        <a:rPr lang="en-US" sz="1600" dirty="0" err="1">
                          <a:effectLst/>
                        </a:rPr>
                        <a:t>grupperne</a:t>
                      </a:r>
                      <a:r>
                        <a:rPr lang="en-US" sz="1600" dirty="0">
                          <a:effectLst/>
                        </a:rPr>
                        <a:t> I </a:t>
                      </a:r>
                      <a:r>
                        <a:rPr lang="en-US" sz="1600" dirty="0" err="1">
                          <a:effectLst/>
                        </a:rPr>
                        <a:t>testresultater</a:t>
                      </a:r>
                      <a:r>
                        <a:rPr lang="en-US" sz="1600" dirty="0">
                          <a:effectLst/>
                        </a:rPr>
                        <a:t>? </a:t>
                      </a:r>
                    </a:p>
                  </a:txBody>
                  <a:tcPr marL="30429" marR="30429" marT="15214" marB="15214"/>
                </a:tc>
                <a:extLst>
                  <a:ext uri="{0D108BD9-81ED-4DB2-BD59-A6C34878D82A}">
                    <a16:rowId xmlns:a16="http://schemas.microsoft.com/office/drawing/2014/main" val="3613218292"/>
                  </a:ext>
                </a:extLst>
              </a:tr>
              <a:tr h="852010">
                <a:tc>
                  <a:txBody>
                    <a:bodyPr/>
                    <a:lstStyle/>
                    <a:p>
                      <a:pPr algn="ctr" fontAlgn="t"/>
                      <a:r>
                        <a:rPr lang="da-DK" sz="1600" dirty="0" err="1">
                          <a:effectLst/>
                        </a:rPr>
                        <a:t>Pearson’s</a:t>
                      </a:r>
                      <a:r>
                        <a:rPr lang="da-DK" sz="1600" dirty="0">
                          <a:effectLst/>
                        </a:rPr>
                        <a:t> r</a:t>
                      </a:r>
                    </a:p>
                  </a:txBody>
                  <a:tcPr marL="30429" marR="30429" marT="15214" marB="15214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600" dirty="0">
                          <a:effectLst/>
                        </a:rPr>
                        <a:t>Spearman’s r</a:t>
                      </a:r>
                      <a:endParaRPr lang="da-DK" sz="1600" dirty="0">
                        <a:effectLst/>
                      </a:endParaRPr>
                    </a:p>
                  </a:txBody>
                  <a:tcPr marL="30429" marR="30429" marT="15214" marB="15214"/>
                </a:tc>
                <a:tc>
                  <a:txBody>
                    <a:bodyPr/>
                    <a:lstStyle/>
                    <a:p>
                      <a:pPr algn="ctr" fontAlgn="t">
                        <a:buFont typeface="Arial" panose="020B0604020202020204" pitchFamily="34" charset="0"/>
                        <a:buChar char="•"/>
                      </a:pPr>
                      <a:r>
                        <a:rPr lang="en-US" sz="1600" dirty="0">
                          <a:effectLst/>
                        </a:rPr>
                        <a:t> </a:t>
                      </a:r>
                      <a:r>
                        <a:rPr lang="en-US" sz="1600" dirty="0" err="1">
                          <a:effectLst/>
                        </a:rPr>
                        <a:t>Continous</a:t>
                      </a:r>
                      <a:endParaRPr lang="en-US" sz="1600" dirty="0">
                        <a:effectLst/>
                      </a:endParaRPr>
                    </a:p>
                    <a:p>
                      <a:pPr algn="ctr" fontAlgn="t">
                        <a:buFont typeface="Arial" panose="020B0604020202020204" pitchFamily="34" charset="0"/>
                        <a:buChar char="•"/>
                      </a:pPr>
                      <a:r>
                        <a:rPr lang="en-US" sz="1600" dirty="0">
                          <a:effectLst/>
                        </a:rPr>
                        <a:t>1 predictor</a:t>
                      </a:r>
                    </a:p>
                  </a:txBody>
                  <a:tcPr marL="30429" marR="30429" marT="15214" marB="15214"/>
                </a:tc>
                <a:tc>
                  <a:txBody>
                    <a:bodyPr/>
                    <a:lstStyle/>
                    <a:p>
                      <a:pPr algn="ctr" fontAlgn="t">
                        <a:buFont typeface="Arial" panose="020B0604020202020204" pitchFamily="34" charset="0"/>
                        <a:buChar char="•"/>
                      </a:pPr>
                      <a:r>
                        <a:rPr lang="en-US" sz="1600" dirty="0" err="1">
                          <a:effectLst/>
                        </a:rPr>
                        <a:t>Continous</a:t>
                      </a:r>
                      <a:endParaRPr lang="en-US" sz="1600" dirty="0">
                        <a:effectLst/>
                      </a:endParaRPr>
                    </a:p>
                    <a:p>
                      <a:pPr algn="ctr" fontAlgn="t">
                        <a:buFont typeface="Arial" panose="020B0604020202020204" pitchFamily="34" charset="0"/>
                        <a:buChar char="•"/>
                      </a:pPr>
                      <a:r>
                        <a:rPr lang="en-US" sz="1600" dirty="0">
                          <a:effectLst/>
                        </a:rPr>
                        <a:t>1 predictor</a:t>
                      </a:r>
                    </a:p>
                  </a:txBody>
                  <a:tcPr marL="30429" marR="30429" marT="15214" marB="15214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600" dirty="0" err="1">
                          <a:effectLst/>
                        </a:rPr>
                        <a:t>Hvordan</a:t>
                      </a:r>
                      <a:r>
                        <a:rPr lang="en-US" sz="1600" dirty="0">
                          <a:effectLst/>
                        </a:rPr>
                        <a:t> </a:t>
                      </a:r>
                      <a:r>
                        <a:rPr lang="en-US" sz="1600" dirty="0" err="1">
                          <a:effectLst/>
                        </a:rPr>
                        <a:t>hænger</a:t>
                      </a:r>
                      <a:r>
                        <a:rPr lang="en-US" sz="1600" dirty="0">
                          <a:effectLst/>
                        </a:rPr>
                        <a:t> alder </a:t>
                      </a:r>
                      <a:r>
                        <a:rPr lang="en-US" sz="1600" dirty="0" err="1">
                          <a:effectLst/>
                        </a:rPr>
                        <a:t>og</a:t>
                      </a:r>
                      <a:r>
                        <a:rPr lang="en-US" sz="1600" dirty="0">
                          <a:effectLst/>
                        </a:rPr>
                        <a:t> </a:t>
                      </a:r>
                      <a:r>
                        <a:rPr lang="en-US" sz="1600" dirty="0" err="1">
                          <a:effectLst/>
                        </a:rPr>
                        <a:t>læringstid</a:t>
                      </a:r>
                      <a:r>
                        <a:rPr lang="en-US" sz="1600" dirty="0">
                          <a:effectLst/>
                        </a:rPr>
                        <a:t> </a:t>
                      </a:r>
                      <a:r>
                        <a:rPr lang="en-US" sz="1600" dirty="0" err="1">
                          <a:effectLst/>
                        </a:rPr>
                        <a:t>sammen</a:t>
                      </a:r>
                      <a:r>
                        <a:rPr lang="en-US" sz="1600" dirty="0">
                          <a:effectLst/>
                        </a:rPr>
                        <a:t>?</a:t>
                      </a:r>
                    </a:p>
                  </a:txBody>
                  <a:tcPr marL="30429" marR="30429" marT="15214" marB="15214"/>
                </a:tc>
                <a:extLst>
                  <a:ext uri="{0D108BD9-81ED-4DB2-BD59-A6C34878D82A}">
                    <a16:rowId xmlns:a16="http://schemas.microsoft.com/office/drawing/2014/main" val="313419244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7647224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CAF993B-9CC0-6710-775F-E960E7197A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Diverse</a:t>
            </a:r>
            <a:endParaRPr lang="da-DK" dirty="0"/>
          </a:p>
        </p:txBody>
      </p:sp>
      <p:sp>
        <p:nvSpPr>
          <p:cNvPr id="3" name="Pladsholder til indhold 2">
            <a:extLst>
              <a:ext uri="{FF2B5EF4-FFF2-40B4-BE49-F238E27FC236}">
                <a16:creationId xmlns:a16="http://schemas.microsoft.com/office/drawing/2014/main" id="{3A46BABB-81C3-0BF0-86CF-0A4C0C5A86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Tabel</a:t>
            </a:r>
            <a:r>
              <a:rPr lang="en-US" dirty="0"/>
              <a:t> 1</a:t>
            </a:r>
            <a:r>
              <a:rPr lang="da-DK" dirty="0"/>
              <a:t> (og nemme sammenligning af grupper) </a:t>
            </a:r>
          </a:p>
          <a:p>
            <a:r>
              <a:rPr lang="da-DK" dirty="0"/>
              <a:t>Eksport af resultater </a:t>
            </a:r>
          </a:p>
          <a:p>
            <a:r>
              <a:rPr lang="da-DK" dirty="0"/>
              <a:t>Hvordan du sender koder med i et manus </a:t>
            </a:r>
          </a:p>
          <a:p>
            <a:pPr lvl="1"/>
            <a:r>
              <a:rPr lang="da-DK" dirty="0"/>
              <a:t>#OpenScience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8145406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9401184-2E7A-1556-2264-13F14738696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err="1"/>
              <a:t>Øvelse</a:t>
            </a:r>
            <a:r>
              <a:rPr lang="en-US" dirty="0"/>
              <a:t> 5!</a:t>
            </a:r>
            <a:endParaRPr lang="da-DK" dirty="0"/>
          </a:p>
        </p:txBody>
      </p:sp>
      <p:sp>
        <p:nvSpPr>
          <p:cNvPr id="3" name="Undertitel 2">
            <a:extLst>
              <a:ext uri="{FF2B5EF4-FFF2-40B4-BE49-F238E27FC236}">
                <a16:creationId xmlns:a16="http://schemas.microsoft.com/office/drawing/2014/main" id="{34F64E3F-CE8A-368F-F0D5-C1D352155B3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 err="1"/>
              <a:t>Hypotesetests</a:t>
            </a:r>
            <a:r>
              <a:rPr lang="en-US" dirty="0"/>
              <a:t> </a:t>
            </a:r>
            <a:r>
              <a:rPr lang="en-US" dirty="0" err="1"/>
              <a:t>og</a:t>
            </a:r>
            <a:r>
              <a:rPr lang="en-US" dirty="0"/>
              <a:t> diverse</a:t>
            </a:r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val="1716853627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2B96CDB-DA19-02ED-0B81-58996092BE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Koncepter</a:t>
            </a:r>
            <a:r>
              <a:rPr lang="en-US" dirty="0"/>
              <a:t> vi </a:t>
            </a:r>
            <a:r>
              <a:rPr lang="en-US" dirty="0" err="1"/>
              <a:t>ikke</a:t>
            </a:r>
            <a:r>
              <a:rPr lang="en-US" dirty="0"/>
              <a:t> </a:t>
            </a:r>
            <a:r>
              <a:rPr lang="en-US" dirty="0" err="1"/>
              <a:t>har</a:t>
            </a:r>
            <a:r>
              <a:rPr lang="en-US" dirty="0"/>
              <a:t> </a:t>
            </a:r>
            <a:r>
              <a:rPr lang="en-US" dirty="0" err="1"/>
              <a:t>snakket</a:t>
            </a:r>
            <a:r>
              <a:rPr lang="en-US" dirty="0"/>
              <a:t> om</a:t>
            </a:r>
            <a:endParaRPr lang="da-DK" dirty="0"/>
          </a:p>
        </p:txBody>
      </p:sp>
      <p:sp>
        <p:nvSpPr>
          <p:cNvPr id="3" name="Pladsholder til indhold 2">
            <a:extLst>
              <a:ext uri="{FF2B5EF4-FFF2-40B4-BE49-F238E27FC236}">
                <a16:creationId xmlns:a16="http://schemas.microsoft.com/office/drawing/2014/main" id="{12CEFE9B-F979-A9D4-E80C-8F42295D54D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Linear </a:t>
            </a:r>
            <a:r>
              <a:rPr lang="en-US" dirty="0" err="1"/>
              <a:t>regressioner</a:t>
            </a:r>
            <a:r>
              <a:rPr lang="en-US" dirty="0"/>
              <a:t> (</a:t>
            </a:r>
            <a:r>
              <a:rPr lang="en-US" dirty="0" err="1"/>
              <a:t>næste</a:t>
            </a:r>
            <a:r>
              <a:rPr lang="en-US" dirty="0"/>
              <a:t> gang)</a:t>
            </a:r>
          </a:p>
          <a:p>
            <a:r>
              <a:rPr lang="en-US" dirty="0"/>
              <a:t>Confidence intervals (</a:t>
            </a:r>
            <a:r>
              <a:rPr lang="en-US" dirty="0" err="1"/>
              <a:t>næste</a:t>
            </a:r>
            <a:r>
              <a:rPr lang="en-US" dirty="0"/>
              <a:t> gang)</a:t>
            </a:r>
          </a:p>
          <a:p>
            <a:r>
              <a:rPr lang="en-US" dirty="0"/>
              <a:t>Time-to-event (</a:t>
            </a:r>
            <a:r>
              <a:rPr lang="en-US" dirty="0" err="1"/>
              <a:t>næste</a:t>
            </a:r>
            <a:r>
              <a:rPr lang="en-US" dirty="0"/>
              <a:t> gang)</a:t>
            </a:r>
          </a:p>
          <a:p>
            <a:r>
              <a:rPr lang="en-US" dirty="0" err="1"/>
              <a:t>Baysiansk</a:t>
            </a:r>
            <a:r>
              <a:rPr lang="en-US" dirty="0"/>
              <a:t> </a:t>
            </a:r>
            <a:r>
              <a:rPr lang="en-US" dirty="0" err="1"/>
              <a:t>statistik</a:t>
            </a:r>
            <a:endParaRPr lang="en-US" dirty="0"/>
          </a:p>
          <a:p>
            <a:r>
              <a:rPr lang="en-US" dirty="0"/>
              <a:t>Machine learning </a:t>
            </a:r>
          </a:p>
          <a:p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val="192260095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-tema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-tema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3849</TotalTime>
  <Words>384</Words>
  <Application>Microsoft Office PowerPoint</Application>
  <PresentationFormat>Widescreen</PresentationFormat>
  <Paragraphs>99</Paragraphs>
  <Slides>30</Slides>
  <Notes>1</Notes>
  <HiddenSlides>0</HiddenSlides>
  <MMClips>0</MMClips>
  <ScaleCrop>false</ScaleCrop>
  <HeadingPairs>
    <vt:vector size="6" baseType="variant">
      <vt:variant>
        <vt:lpstr>Benyttede skrifttyper</vt:lpstr>
      </vt:variant>
      <vt:variant>
        <vt:i4>3</vt:i4>
      </vt:variant>
      <vt:variant>
        <vt:lpstr>Tema</vt:lpstr>
      </vt:variant>
      <vt:variant>
        <vt:i4>1</vt:i4>
      </vt:variant>
      <vt:variant>
        <vt:lpstr>Slidetitler</vt:lpstr>
      </vt:variant>
      <vt:variant>
        <vt:i4>30</vt:i4>
      </vt:variant>
    </vt:vector>
  </HeadingPairs>
  <TitlesOfParts>
    <vt:vector size="34" baseType="lpstr">
      <vt:lpstr>Aptos</vt:lpstr>
      <vt:lpstr>Aptos Display</vt:lpstr>
      <vt:lpstr>Arial</vt:lpstr>
      <vt:lpstr>Office-tema</vt:lpstr>
      <vt:lpstr>Basic R – dag 2</vt:lpstr>
      <vt:lpstr>PowerPoint-præsentation</vt:lpstr>
      <vt:lpstr>Agenda</vt:lpstr>
      <vt:lpstr>Hypotesetest</vt:lpstr>
      <vt:lpstr>Øvelse 3!</vt:lpstr>
      <vt:lpstr>Basic concept 1</vt:lpstr>
      <vt:lpstr>Hvad er “normal” fordeling?</vt:lpstr>
      <vt:lpstr>PowerPoint-præsentation</vt:lpstr>
      <vt:lpstr>PowerPoint-præsentation</vt:lpstr>
      <vt:lpstr>Hvad er normalfordeling så?</vt:lpstr>
      <vt:lpstr>Hvad er normalfordeling IKKE</vt:lpstr>
      <vt:lpstr>Basic concept 2</vt:lpstr>
      <vt:lpstr>PowerPoint-præsentation</vt:lpstr>
      <vt:lpstr>PowerPoint-præsentation</vt:lpstr>
      <vt:lpstr>For resten af kurset:</vt:lpstr>
      <vt:lpstr>Basic concept 3</vt:lpstr>
      <vt:lpstr>PowerPoint-præsentation</vt:lpstr>
      <vt:lpstr>PowerPoint-præsentation</vt:lpstr>
      <vt:lpstr>Tilbage til R!</vt:lpstr>
      <vt:lpstr>Test af normalfordeling</vt:lpstr>
      <vt:lpstr>Metode 1: Quick and dirty</vt:lpstr>
      <vt:lpstr>Metode 2: QQ-plots</vt:lpstr>
      <vt:lpstr>Metode 3: Frequentists tests</vt:lpstr>
      <vt:lpstr>Øvelse 4!</vt:lpstr>
      <vt:lpstr>PowerPoint-præsentation</vt:lpstr>
      <vt:lpstr>T-Test – den alle kender og misbruger</vt:lpstr>
      <vt:lpstr>Statistiske test 101</vt:lpstr>
      <vt:lpstr>Diverse</vt:lpstr>
      <vt:lpstr>Øvelse 5!</vt:lpstr>
      <vt:lpstr>Koncepter vi ikke har snakket om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Phillip Kaasgaard Sperling</dc:creator>
  <cp:lastModifiedBy>Phillip Kaasgaard Sperling</cp:lastModifiedBy>
  <cp:revision>12</cp:revision>
  <dcterms:created xsi:type="dcterms:W3CDTF">2024-09-15T18:08:56Z</dcterms:created>
  <dcterms:modified xsi:type="dcterms:W3CDTF">2025-04-22T13:35:32Z</dcterms:modified>
</cp:coreProperties>
</file>