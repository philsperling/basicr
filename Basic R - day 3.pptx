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01" r:id="rId4"/>
    <p:sldId id="302" r:id="rId5"/>
    <p:sldId id="303" r:id="rId6"/>
    <p:sldId id="280" r:id="rId7"/>
    <p:sldId id="307" r:id="rId8"/>
    <p:sldId id="309" r:id="rId9"/>
    <p:sldId id="310" r:id="rId10"/>
    <p:sldId id="311" r:id="rId11"/>
    <p:sldId id="305" r:id="rId12"/>
    <p:sldId id="308" r:id="rId13"/>
    <p:sldId id="312" r:id="rId14"/>
    <p:sldId id="314" r:id="rId15"/>
    <p:sldId id="315" r:id="rId1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ema til typografi 1 - Markering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yst layout 2 - Markerin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-197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694DE-DFD6-45BA-B184-A9E32E281C3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F8A560E-F6DD-4254-AF73-A5259FADD990}">
      <dgm:prSet/>
      <dgm:spPr/>
      <dgm:t>
        <a:bodyPr/>
        <a:lstStyle/>
        <a:p>
          <a:r>
            <a:rPr lang="en-US" dirty="0" err="1"/>
            <a:t>Prædiktionsmodeller</a:t>
          </a:r>
          <a:endParaRPr lang="en-US" dirty="0"/>
        </a:p>
      </dgm:t>
    </dgm:pt>
    <dgm:pt modelId="{7D3519B5-DB5A-4E72-B6E0-2E445F3A1FBA}" type="parTrans" cxnId="{DCEA42F1-3763-494D-9A97-4A0B1EF1464F}">
      <dgm:prSet/>
      <dgm:spPr/>
      <dgm:t>
        <a:bodyPr/>
        <a:lstStyle/>
        <a:p>
          <a:endParaRPr lang="en-US"/>
        </a:p>
      </dgm:t>
    </dgm:pt>
    <dgm:pt modelId="{E9BDD97C-F395-4DD8-89D9-46331EA24A65}" type="sibTrans" cxnId="{DCEA42F1-3763-494D-9A97-4A0B1EF1464F}">
      <dgm:prSet/>
      <dgm:spPr/>
      <dgm:t>
        <a:bodyPr/>
        <a:lstStyle/>
        <a:p>
          <a:endParaRPr lang="en-US"/>
        </a:p>
      </dgm:t>
    </dgm:pt>
    <dgm:pt modelId="{16688A05-8CD1-422C-8D4B-754C457A9677}">
      <dgm:prSet/>
      <dgm:spPr/>
      <dgm:t>
        <a:bodyPr/>
        <a:lstStyle/>
        <a:p>
          <a:r>
            <a:rPr lang="en-US" dirty="0" err="1"/>
            <a:t>Opfølgning</a:t>
          </a:r>
          <a:r>
            <a:rPr lang="en-US" dirty="0"/>
            <a:t> </a:t>
          </a:r>
          <a:r>
            <a:rPr lang="en-US" dirty="0" err="1"/>
            <a:t>på</a:t>
          </a:r>
          <a:r>
            <a:rPr lang="en-US" dirty="0"/>
            <a:t> </a:t>
          </a:r>
          <a:r>
            <a:rPr lang="en-US" dirty="0" err="1"/>
            <a:t>sidste</a:t>
          </a:r>
          <a:r>
            <a:rPr lang="en-US" dirty="0"/>
            <a:t> gang</a:t>
          </a:r>
        </a:p>
      </dgm:t>
    </dgm:pt>
    <dgm:pt modelId="{B83D6EE1-83BF-463F-8783-44D6D3637D9B}" type="parTrans" cxnId="{FDB5A5FC-9BF8-43EF-B6E1-1A40C1288A3B}">
      <dgm:prSet/>
      <dgm:spPr/>
      <dgm:t>
        <a:bodyPr/>
        <a:lstStyle/>
        <a:p>
          <a:endParaRPr lang="da-DK"/>
        </a:p>
      </dgm:t>
    </dgm:pt>
    <dgm:pt modelId="{172E18A5-9BE4-4CB1-9165-70B154AD6A8F}" type="sibTrans" cxnId="{FDB5A5FC-9BF8-43EF-B6E1-1A40C1288A3B}">
      <dgm:prSet/>
      <dgm:spPr/>
      <dgm:t>
        <a:bodyPr/>
        <a:lstStyle/>
        <a:p>
          <a:endParaRPr lang="da-DK"/>
        </a:p>
      </dgm:t>
    </dgm:pt>
    <dgm:pt modelId="{0D95275F-BC28-4410-BEAC-F04203462B20}">
      <dgm:prSet/>
      <dgm:spPr/>
      <dgm:t>
        <a:bodyPr/>
        <a:lstStyle/>
        <a:p>
          <a:r>
            <a:rPr lang="en-US" dirty="0" err="1"/>
            <a:t>Spise</a:t>
          </a:r>
          <a:r>
            <a:rPr lang="en-US" dirty="0"/>
            <a:t> pause</a:t>
          </a:r>
        </a:p>
      </dgm:t>
    </dgm:pt>
    <dgm:pt modelId="{F25699C1-A2B6-48D5-B007-F173DEB87750}" type="parTrans" cxnId="{50BB70DA-2DDC-46D8-92C5-BF574C9567F4}">
      <dgm:prSet/>
      <dgm:spPr/>
      <dgm:t>
        <a:bodyPr/>
        <a:lstStyle/>
        <a:p>
          <a:endParaRPr lang="da-DK"/>
        </a:p>
      </dgm:t>
    </dgm:pt>
    <dgm:pt modelId="{58FDF571-9372-4AFE-B37B-3801D9A56068}" type="sibTrans" cxnId="{50BB70DA-2DDC-46D8-92C5-BF574C9567F4}">
      <dgm:prSet/>
      <dgm:spPr/>
      <dgm:t>
        <a:bodyPr/>
        <a:lstStyle/>
        <a:p>
          <a:endParaRPr lang="da-DK"/>
        </a:p>
      </dgm:t>
    </dgm:pt>
    <dgm:pt modelId="{38DDD519-8678-4A60-95A9-EDAFBC90408B}">
      <dgm:prSet/>
      <dgm:spPr/>
      <dgm:t>
        <a:bodyPr/>
        <a:lstStyle/>
        <a:p>
          <a:r>
            <a:rPr lang="en-US" dirty="0" err="1"/>
            <a:t>Grafikker</a:t>
          </a:r>
          <a:r>
            <a:rPr lang="en-US" dirty="0"/>
            <a:t> </a:t>
          </a:r>
          <a:r>
            <a:rPr lang="en-US" dirty="0" err="1"/>
            <a:t>og</a:t>
          </a:r>
          <a:r>
            <a:rPr lang="en-US" dirty="0"/>
            <a:t> figurer</a:t>
          </a:r>
        </a:p>
      </dgm:t>
    </dgm:pt>
    <dgm:pt modelId="{157D1B69-5A42-4A16-B857-06714165C425}" type="parTrans" cxnId="{BC191BC0-C07D-43EE-BCCF-4ADEE78782CD}">
      <dgm:prSet/>
      <dgm:spPr/>
      <dgm:t>
        <a:bodyPr/>
        <a:lstStyle/>
        <a:p>
          <a:endParaRPr lang="da-DK"/>
        </a:p>
      </dgm:t>
    </dgm:pt>
    <dgm:pt modelId="{3F77F00B-4B67-46A1-8142-5074D06C23D0}" type="sibTrans" cxnId="{BC191BC0-C07D-43EE-BCCF-4ADEE78782CD}">
      <dgm:prSet/>
      <dgm:spPr/>
      <dgm:t>
        <a:bodyPr/>
        <a:lstStyle/>
        <a:p>
          <a:endParaRPr lang="da-DK"/>
        </a:p>
      </dgm:t>
    </dgm:pt>
    <dgm:pt modelId="{0C4CE31C-A377-4D88-B83C-55048814C942}">
      <dgm:prSet/>
      <dgm:spPr/>
      <dgm:t>
        <a:bodyPr/>
        <a:lstStyle/>
        <a:p>
          <a:r>
            <a:rPr lang="en-US" dirty="0" err="1"/>
            <a:t>Spørgsmål</a:t>
          </a:r>
          <a:r>
            <a:rPr lang="en-US" dirty="0"/>
            <a:t> </a:t>
          </a:r>
          <a:r>
            <a:rPr lang="en-US" dirty="0" err="1"/>
            <a:t>og</a:t>
          </a:r>
          <a:r>
            <a:rPr lang="en-US" dirty="0"/>
            <a:t> </a:t>
          </a:r>
          <a:r>
            <a:rPr lang="en-US" dirty="0" err="1"/>
            <a:t>evaluering</a:t>
          </a:r>
          <a:endParaRPr lang="en-US" dirty="0"/>
        </a:p>
      </dgm:t>
    </dgm:pt>
    <dgm:pt modelId="{D0A742B6-B08F-46C8-9143-A52C94A56CF4}" type="parTrans" cxnId="{A030D572-2BF0-444F-A877-A440C7A59F97}">
      <dgm:prSet/>
      <dgm:spPr/>
      <dgm:t>
        <a:bodyPr/>
        <a:lstStyle/>
        <a:p>
          <a:endParaRPr lang="da-DK"/>
        </a:p>
      </dgm:t>
    </dgm:pt>
    <dgm:pt modelId="{2FF7EDD8-A977-43B0-9966-CF362BA8ED3A}" type="sibTrans" cxnId="{A030D572-2BF0-444F-A877-A440C7A59F97}">
      <dgm:prSet/>
      <dgm:spPr/>
      <dgm:t>
        <a:bodyPr/>
        <a:lstStyle/>
        <a:p>
          <a:endParaRPr lang="da-DK"/>
        </a:p>
      </dgm:t>
    </dgm:pt>
    <dgm:pt modelId="{BE46ED6D-D95F-4C62-9B0D-98F60E4C8ED5}" type="pres">
      <dgm:prSet presAssocID="{FB0694DE-DFD6-45BA-B184-A9E32E281C34}" presName="vert0" presStyleCnt="0">
        <dgm:presLayoutVars>
          <dgm:dir/>
          <dgm:animOne val="branch"/>
          <dgm:animLvl val="lvl"/>
        </dgm:presLayoutVars>
      </dgm:prSet>
      <dgm:spPr/>
    </dgm:pt>
    <dgm:pt modelId="{497F461D-EC6E-4179-927F-0C6AD93CBEAB}" type="pres">
      <dgm:prSet presAssocID="{16688A05-8CD1-422C-8D4B-754C457A9677}" presName="thickLine" presStyleLbl="alignNode1" presStyleIdx="0" presStyleCnt="5"/>
      <dgm:spPr/>
    </dgm:pt>
    <dgm:pt modelId="{300E4385-5189-4F6E-AFCA-6B3A01557297}" type="pres">
      <dgm:prSet presAssocID="{16688A05-8CD1-422C-8D4B-754C457A9677}" presName="horz1" presStyleCnt="0"/>
      <dgm:spPr/>
    </dgm:pt>
    <dgm:pt modelId="{6452D1B0-0F1F-4D43-8FF9-638585DFAE99}" type="pres">
      <dgm:prSet presAssocID="{16688A05-8CD1-422C-8D4B-754C457A9677}" presName="tx1" presStyleLbl="revTx" presStyleIdx="0" presStyleCnt="5"/>
      <dgm:spPr/>
    </dgm:pt>
    <dgm:pt modelId="{D500BA6E-E356-460C-B62D-516BE4F9C830}" type="pres">
      <dgm:prSet presAssocID="{16688A05-8CD1-422C-8D4B-754C457A9677}" presName="vert1" presStyleCnt="0"/>
      <dgm:spPr/>
    </dgm:pt>
    <dgm:pt modelId="{05260F11-BECE-45DA-9108-79024DA6B81F}" type="pres">
      <dgm:prSet presAssocID="{38DDD519-8678-4A60-95A9-EDAFBC90408B}" presName="thickLine" presStyleLbl="alignNode1" presStyleIdx="1" presStyleCnt="5"/>
      <dgm:spPr/>
    </dgm:pt>
    <dgm:pt modelId="{73562757-8ADD-429D-BC5A-C98064D7E5F4}" type="pres">
      <dgm:prSet presAssocID="{38DDD519-8678-4A60-95A9-EDAFBC90408B}" presName="horz1" presStyleCnt="0"/>
      <dgm:spPr/>
    </dgm:pt>
    <dgm:pt modelId="{E2AF6C28-DC8D-4170-9C22-53E1C6A23E08}" type="pres">
      <dgm:prSet presAssocID="{38DDD519-8678-4A60-95A9-EDAFBC90408B}" presName="tx1" presStyleLbl="revTx" presStyleIdx="1" presStyleCnt="5"/>
      <dgm:spPr/>
    </dgm:pt>
    <dgm:pt modelId="{BE9731D6-6B79-4B7E-8E27-1674E31B890A}" type="pres">
      <dgm:prSet presAssocID="{38DDD519-8678-4A60-95A9-EDAFBC90408B}" presName="vert1" presStyleCnt="0"/>
      <dgm:spPr/>
    </dgm:pt>
    <dgm:pt modelId="{03E376DF-E1B6-4B92-AB88-9E5C86FC7118}" type="pres">
      <dgm:prSet presAssocID="{0D95275F-BC28-4410-BEAC-F04203462B20}" presName="thickLine" presStyleLbl="alignNode1" presStyleIdx="2" presStyleCnt="5"/>
      <dgm:spPr/>
    </dgm:pt>
    <dgm:pt modelId="{692E9B0C-5A8A-4C54-B2DD-2CB3E1D3644B}" type="pres">
      <dgm:prSet presAssocID="{0D95275F-BC28-4410-BEAC-F04203462B20}" presName="horz1" presStyleCnt="0"/>
      <dgm:spPr/>
    </dgm:pt>
    <dgm:pt modelId="{8CA89E1A-93B8-46D3-A2D7-1C0AAA16C49B}" type="pres">
      <dgm:prSet presAssocID="{0D95275F-BC28-4410-BEAC-F04203462B20}" presName="tx1" presStyleLbl="revTx" presStyleIdx="2" presStyleCnt="5"/>
      <dgm:spPr/>
    </dgm:pt>
    <dgm:pt modelId="{23110436-4FCC-4D2D-ACE8-DF542CD90026}" type="pres">
      <dgm:prSet presAssocID="{0D95275F-BC28-4410-BEAC-F04203462B20}" presName="vert1" presStyleCnt="0"/>
      <dgm:spPr/>
    </dgm:pt>
    <dgm:pt modelId="{18D39591-C8CB-477A-B24A-70531F1AE3D0}" type="pres">
      <dgm:prSet presAssocID="{5F8A560E-F6DD-4254-AF73-A5259FADD990}" presName="thickLine" presStyleLbl="alignNode1" presStyleIdx="3" presStyleCnt="5"/>
      <dgm:spPr/>
    </dgm:pt>
    <dgm:pt modelId="{FB118834-1620-4C75-A26A-D50BFA69B9C1}" type="pres">
      <dgm:prSet presAssocID="{5F8A560E-F6DD-4254-AF73-A5259FADD990}" presName="horz1" presStyleCnt="0"/>
      <dgm:spPr/>
    </dgm:pt>
    <dgm:pt modelId="{929CB212-6DAA-4A10-B729-94E1FD65CBAD}" type="pres">
      <dgm:prSet presAssocID="{5F8A560E-F6DD-4254-AF73-A5259FADD990}" presName="tx1" presStyleLbl="revTx" presStyleIdx="3" presStyleCnt="5"/>
      <dgm:spPr/>
    </dgm:pt>
    <dgm:pt modelId="{F0FDFFC8-CF37-4ADE-A1CD-038CAE4FAC6A}" type="pres">
      <dgm:prSet presAssocID="{5F8A560E-F6DD-4254-AF73-A5259FADD990}" presName="vert1" presStyleCnt="0"/>
      <dgm:spPr/>
    </dgm:pt>
    <dgm:pt modelId="{20268FE9-77C9-4EC8-A43D-39FDE14E4F7F}" type="pres">
      <dgm:prSet presAssocID="{0C4CE31C-A377-4D88-B83C-55048814C942}" presName="thickLine" presStyleLbl="alignNode1" presStyleIdx="4" presStyleCnt="5"/>
      <dgm:spPr/>
    </dgm:pt>
    <dgm:pt modelId="{29AED1AA-487A-4F2E-B0F7-704E6339718F}" type="pres">
      <dgm:prSet presAssocID="{0C4CE31C-A377-4D88-B83C-55048814C942}" presName="horz1" presStyleCnt="0"/>
      <dgm:spPr/>
    </dgm:pt>
    <dgm:pt modelId="{3568EBEC-6195-41E4-876F-9D6EFBFAC6D2}" type="pres">
      <dgm:prSet presAssocID="{0C4CE31C-A377-4D88-B83C-55048814C942}" presName="tx1" presStyleLbl="revTx" presStyleIdx="4" presStyleCnt="5"/>
      <dgm:spPr/>
    </dgm:pt>
    <dgm:pt modelId="{8B188CD0-8F09-45E4-801C-5A3B8083E56D}" type="pres">
      <dgm:prSet presAssocID="{0C4CE31C-A377-4D88-B83C-55048814C942}" presName="vert1" presStyleCnt="0"/>
      <dgm:spPr/>
    </dgm:pt>
  </dgm:ptLst>
  <dgm:cxnLst>
    <dgm:cxn modelId="{5D837F0D-D538-418D-AEED-F4C502C8C74E}" type="presOf" srcId="{5F8A560E-F6DD-4254-AF73-A5259FADD990}" destId="{929CB212-6DAA-4A10-B729-94E1FD65CBAD}" srcOrd="0" destOrd="0" presId="urn:microsoft.com/office/officeart/2008/layout/LinedList"/>
    <dgm:cxn modelId="{A030D572-2BF0-444F-A877-A440C7A59F97}" srcId="{FB0694DE-DFD6-45BA-B184-A9E32E281C34}" destId="{0C4CE31C-A377-4D88-B83C-55048814C942}" srcOrd="4" destOrd="0" parTransId="{D0A742B6-B08F-46C8-9143-A52C94A56CF4}" sibTransId="{2FF7EDD8-A977-43B0-9966-CF362BA8ED3A}"/>
    <dgm:cxn modelId="{43D88853-D341-4B85-9EA1-D35C75C3B811}" type="presOf" srcId="{16688A05-8CD1-422C-8D4B-754C457A9677}" destId="{6452D1B0-0F1F-4D43-8FF9-638585DFAE99}" srcOrd="0" destOrd="0" presId="urn:microsoft.com/office/officeart/2008/layout/LinedList"/>
    <dgm:cxn modelId="{D41C73B8-8DF8-404A-9C7C-B2E27CFE1D74}" type="presOf" srcId="{0D95275F-BC28-4410-BEAC-F04203462B20}" destId="{8CA89E1A-93B8-46D3-A2D7-1C0AAA16C49B}" srcOrd="0" destOrd="0" presId="urn:microsoft.com/office/officeart/2008/layout/LinedList"/>
    <dgm:cxn modelId="{BC191BC0-C07D-43EE-BCCF-4ADEE78782CD}" srcId="{FB0694DE-DFD6-45BA-B184-A9E32E281C34}" destId="{38DDD519-8678-4A60-95A9-EDAFBC90408B}" srcOrd="1" destOrd="0" parTransId="{157D1B69-5A42-4A16-B857-06714165C425}" sibTransId="{3F77F00B-4B67-46A1-8142-5074D06C23D0}"/>
    <dgm:cxn modelId="{50BB70DA-2DDC-46D8-92C5-BF574C9567F4}" srcId="{FB0694DE-DFD6-45BA-B184-A9E32E281C34}" destId="{0D95275F-BC28-4410-BEAC-F04203462B20}" srcOrd="2" destOrd="0" parTransId="{F25699C1-A2B6-48D5-B007-F173DEB87750}" sibTransId="{58FDF571-9372-4AFE-B37B-3801D9A56068}"/>
    <dgm:cxn modelId="{EE044FDC-2F26-4B57-B24B-60F66D2C1630}" type="presOf" srcId="{0C4CE31C-A377-4D88-B83C-55048814C942}" destId="{3568EBEC-6195-41E4-876F-9D6EFBFAC6D2}" srcOrd="0" destOrd="0" presId="urn:microsoft.com/office/officeart/2008/layout/LinedList"/>
    <dgm:cxn modelId="{A2373CE8-E9C0-404F-BC7F-6EB79F185D62}" type="presOf" srcId="{FB0694DE-DFD6-45BA-B184-A9E32E281C34}" destId="{BE46ED6D-D95F-4C62-9B0D-98F60E4C8ED5}" srcOrd="0" destOrd="0" presId="urn:microsoft.com/office/officeart/2008/layout/LinedList"/>
    <dgm:cxn modelId="{DCEA42F1-3763-494D-9A97-4A0B1EF1464F}" srcId="{FB0694DE-DFD6-45BA-B184-A9E32E281C34}" destId="{5F8A560E-F6DD-4254-AF73-A5259FADD990}" srcOrd="3" destOrd="0" parTransId="{7D3519B5-DB5A-4E72-B6E0-2E445F3A1FBA}" sibTransId="{E9BDD97C-F395-4DD8-89D9-46331EA24A65}"/>
    <dgm:cxn modelId="{E091ACF8-9455-4B9D-BD4B-19531E610FD5}" type="presOf" srcId="{38DDD519-8678-4A60-95A9-EDAFBC90408B}" destId="{E2AF6C28-DC8D-4170-9C22-53E1C6A23E08}" srcOrd="0" destOrd="0" presId="urn:microsoft.com/office/officeart/2008/layout/LinedList"/>
    <dgm:cxn modelId="{FDB5A5FC-9BF8-43EF-B6E1-1A40C1288A3B}" srcId="{FB0694DE-DFD6-45BA-B184-A9E32E281C34}" destId="{16688A05-8CD1-422C-8D4B-754C457A9677}" srcOrd="0" destOrd="0" parTransId="{B83D6EE1-83BF-463F-8783-44D6D3637D9B}" sibTransId="{172E18A5-9BE4-4CB1-9165-70B154AD6A8F}"/>
    <dgm:cxn modelId="{043D36E0-0A5D-42D4-8BC2-AF3F3AFAFA68}" type="presParOf" srcId="{BE46ED6D-D95F-4C62-9B0D-98F60E4C8ED5}" destId="{497F461D-EC6E-4179-927F-0C6AD93CBEAB}" srcOrd="0" destOrd="0" presId="urn:microsoft.com/office/officeart/2008/layout/LinedList"/>
    <dgm:cxn modelId="{2DF741DD-0CA7-4B37-93B2-28E52EE82ADD}" type="presParOf" srcId="{BE46ED6D-D95F-4C62-9B0D-98F60E4C8ED5}" destId="{300E4385-5189-4F6E-AFCA-6B3A01557297}" srcOrd="1" destOrd="0" presId="urn:microsoft.com/office/officeart/2008/layout/LinedList"/>
    <dgm:cxn modelId="{81D8C7A3-37A1-41B9-BAAF-4DDD77D9144C}" type="presParOf" srcId="{300E4385-5189-4F6E-AFCA-6B3A01557297}" destId="{6452D1B0-0F1F-4D43-8FF9-638585DFAE99}" srcOrd="0" destOrd="0" presId="urn:microsoft.com/office/officeart/2008/layout/LinedList"/>
    <dgm:cxn modelId="{0AC450FA-5BAF-4F6D-8D98-6D5D2697EB60}" type="presParOf" srcId="{300E4385-5189-4F6E-AFCA-6B3A01557297}" destId="{D500BA6E-E356-460C-B62D-516BE4F9C830}" srcOrd="1" destOrd="0" presId="urn:microsoft.com/office/officeart/2008/layout/LinedList"/>
    <dgm:cxn modelId="{76040D32-7571-4DA7-BFFA-8CA03C1785A4}" type="presParOf" srcId="{BE46ED6D-D95F-4C62-9B0D-98F60E4C8ED5}" destId="{05260F11-BECE-45DA-9108-79024DA6B81F}" srcOrd="2" destOrd="0" presId="urn:microsoft.com/office/officeart/2008/layout/LinedList"/>
    <dgm:cxn modelId="{12E7311F-3B03-4AA6-A83A-FF3937683128}" type="presParOf" srcId="{BE46ED6D-D95F-4C62-9B0D-98F60E4C8ED5}" destId="{73562757-8ADD-429D-BC5A-C98064D7E5F4}" srcOrd="3" destOrd="0" presId="urn:microsoft.com/office/officeart/2008/layout/LinedList"/>
    <dgm:cxn modelId="{11D45A76-5471-4D36-BEA5-A853FB5F9285}" type="presParOf" srcId="{73562757-8ADD-429D-BC5A-C98064D7E5F4}" destId="{E2AF6C28-DC8D-4170-9C22-53E1C6A23E08}" srcOrd="0" destOrd="0" presId="urn:microsoft.com/office/officeart/2008/layout/LinedList"/>
    <dgm:cxn modelId="{FDF5BE1B-0B8F-41F9-8EC8-8304410C360F}" type="presParOf" srcId="{73562757-8ADD-429D-BC5A-C98064D7E5F4}" destId="{BE9731D6-6B79-4B7E-8E27-1674E31B890A}" srcOrd="1" destOrd="0" presId="urn:microsoft.com/office/officeart/2008/layout/LinedList"/>
    <dgm:cxn modelId="{32E53658-66F5-41B6-B0A3-301EBD0C90A6}" type="presParOf" srcId="{BE46ED6D-D95F-4C62-9B0D-98F60E4C8ED5}" destId="{03E376DF-E1B6-4B92-AB88-9E5C86FC7118}" srcOrd="4" destOrd="0" presId="urn:microsoft.com/office/officeart/2008/layout/LinedList"/>
    <dgm:cxn modelId="{AD84089F-7D56-487C-87CE-F9AF206A1BAF}" type="presParOf" srcId="{BE46ED6D-D95F-4C62-9B0D-98F60E4C8ED5}" destId="{692E9B0C-5A8A-4C54-B2DD-2CB3E1D3644B}" srcOrd="5" destOrd="0" presId="urn:microsoft.com/office/officeart/2008/layout/LinedList"/>
    <dgm:cxn modelId="{D2C3B8C7-1CBA-44A8-B708-34499E7FE68C}" type="presParOf" srcId="{692E9B0C-5A8A-4C54-B2DD-2CB3E1D3644B}" destId="{8CA89E1A-93B8-46D3-A2D7-1C0AAA16C49B}" srcOrd="0" destOrd="0" presId="urn:microsoft.com/office/officeart/2008/layout/LinedList"/>
    <dgm:cxn modelId="{AE53463A-3F6E-44FA-8CE9-09E87E7D74A8}" type="presParOf" srcId="{692E9B0C-5A8A-4C54-B2DD-2CB3E1D3644B}" destId="{23110436-4FCC-4D2D-ACE8-DF542CD90026}" srcOrd="1" destOrd="0" presId="urn:microsoft.com/office/officeart/2008/layout/LinedList"/>
    <dgm:cxn modelId="{B807B0C5-ACD5-442D-B09B-A0ADA1BD8178}" type="presParOf" srcId="{BE46ED6D-D95F-4C62-9B0D-98F60E4C8ED5}" destId="{18D39591-C8CB-477A-B24A-70531F1AE3D0}" srcOrd="6" destOrd="0" presId="urn:microsoft.com/office/officeart/2008/layout/LinedList"/>
    <dgm:cxn modelId="{222E298C-B85D-4B03-B7E7-BFB87A0D7C1F}" type="presParOf" srcId="{BE46ED6D-D95F-4C62-9B0D-98F60E4C8ED5}" destId="{FB118834-1620-4C75-A26A-D50BFA69B9C1}" srcOrd="7" destOrd="0" presId="urn:microsoft.com/office/officeart/2008/layout/LinedList"/>
    <dgm:cxn modelId="{87344097-971C-4A80-9701-C5B0C40829AD}" type="presParOf" srcId="{FB118834-1620-4C75-A26A-D50BFA69B9C1}" destId="{929CB212-6DAA-4A10-B729-94E1FD65CBAD}" srcOrd="0" destOrd="0" presId="urn:microsoft.com/office/officeart/2008/layout/LinedList"/>
    <dgm:cxn modelId="{B603CD79-4126-4600-9751-6EE91E300307}" type="presParOf" srcId="{FB118834-1620-4C75-A26A-D50BFA69B9C1}" destId="{F0FDFFC8-CF37-4ADE-A1CD-038CAE4FAC6A}" srcOrd="1" destOrd="0" presId="urn:microsoft.com/office/officeart/2008/layout/LinedList"/>
    <dgm:cxn modelId="{409BF14B-0544-4E05-8AEB-5820C4C2CA28}" type="presParOf" srcId="{BE46ED6D-D95F-4C62-9B0D-98F60E4C8ED5}" destId="{20268FE9-77C9-4EC8-A43D-39FDE14E4F7F}" srcOrd="8" destOrd="0" presId="urn:microsoft.com/office/officeart/2008/layout/LinedList"/>
    <dgm:cxn modelId="{9352A824-AEBE-4EA3-A6F2-7716321547F6}" type="presParOf" srcId="{BE46ED6D-D95F-4C62-9B0D-98F60E4C8ED5}" destId="{29AED1AA-487A-4F2E-B0F7-704E6339718F}" srcOrd="9" destOrd="0" presId="urn:microsoft.com/office/officeart/2008/layout/LinedList"/>
    <dgm:cxn modelId="{98473B14-6C72-4FDA-A4CD-559C070F781D}" type="presParOf" srcId="{29AED1AA-487A-4F2E-B0F7-704E6339718F}" destId="{3568EBEC-6195-41E4-876F-9D6EFBFAC6D2}" srcOrd="0" destOrd="0" presId="urn:microsoft.com/office/officeart/2008/layout/LinedList"/>
    <dgm:cxn modelId="{EDEEB9C4-376E-48D7-8E3A-08E07F1CD9A6}" type="presParOf" srcId="{29AED1AA-487A-4F2E-B0F7-704E6339718F}" destId="{8B188CD0-8F09-45E4-801C-5A3B8083E5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F461D-EC6E-4179-927F-0C6AD93CBEAB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2D1B0-0F1F-4D43-8FF9-638585DFAE99}">
      <dsp:nvSpPr>
        <dsp:cNvPr id="0" name=""/>
        <dsp:cNvSpPr/>
      </dsp:nvSpPr>
      <dsp:spPr>
        <a:xfrm>
          <a:off x="0" y="67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Opfølgning</a:t>
          </a:r>
          <a:r>
            <a:rPr lang="en-US" sz="4200" kern="1200" dirty="0"/>
            <a:t> </a:t>
          </a:r>
          <a:r>
            <a:rPr lang="en-US" sz="4200" kern="1200" dirty="0" err="1"/>
            <a:t>på</a:t>
          </a:r>
          <a:r>
            <a:rPr lang="en-US" sz="4200" kern="1200" dirty="0"/>
            <a:t> </a:t>
          </a:r>
          <a:r>
            <a:rPr lang="en-US" sz="4200" kern="1200" dirty="0" err="1"/>
            <a:t>sidste</a:t>
          </a:r>
          <a:r>
            <a:rPr lang="en-US" sz="4200" kern="1200" dirty="0"/>
            <a:t> gang</a:t>
          </a:r>
        </a:p>
      </dsp:txBody>
      <dsp:txXfrm>
        <a:off x="0" y="675"/>
        <a:ext cx="6291714" cy="1105876"/>
      </dsp:txXfrm>
    </dsp:sp>
    <dsp:sp modelId="{05260F11-BECE-45DA-9108-79024DA6B81F}">
      <dsp:nvSpPr>
        <dsp:cNvPr id="0" name=""/>
        <dsp:cNvSpPr/>
      </dsp:nvSpPr>
      <dsp:spPr>
        <a:xfrm>
          <a:off x="0" y="1106552"/>
          <a:ext cx="6291714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F6C28-DC8D-4170-9C22-53E1C6A23E08}">
      <dsp:nvSpPr>
        <dsp:cNvPr id="0" name=""/>
        <dsp:cNvSpPr/>
      </dsp:nvSpPr>
      <dsp:spPr>
        <a:xfrm>
          <a:off x="0" y="110655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Grafikker</a:t>
          </a:r>
          <a:r>
            <a:rPr lang="en-US" sz="4200" kern="1200" dirty="0"/>
            <a:t> </a:t>
          </a:r>
          <a:r>
            <a:rPr lang="en-US" sz="4200" kern="1200" dirty="0" err="1"/>
            <a:t>og</a:t>
          </a:r>
          <a:r>
            <a:rPr lang="en-US" sz="4200" kern="1200" dirty="0"/>
            <a:t> figurer</a:t>
          </a:r>
        </a:p>
      </dsp:txBody>
      <dsp:txXfrm>
        <a:off x="0" y="1106552"/>
        <a:ext cx="6291714" cy="1105876"/>
      </dsp:txXfrm>
    </dsp:sp>
    <dsp:sp modelId="{03E376DF-E1B6-4B92-AB88-9E5C86FC7118}">
      <dsp:nvSpPr>
        <dsp:cNvPr id="0" name=""/>
        <dsp:cNvSpPr/>
      </dsp:nvSpPr>
      <dsp:spPr>
        <a:xfrm>
          <a:off x="0" y="2212429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89E1A-93B8-46D3-A2D7-1C0AAA16C49B}">
      <dsp:nvSpPr>
        <dsp:cNvPr id="0" name=""/>
        <dsp:cNvSpPr/>
      </dsp:nvSpPr>
      <dsp:spPr>
        <a:xfrm>
          <a:off x="0" y="2212429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Spise</a:t>
          </a:r>
          <a:r>
            <a:rPr lang="en-US" sz="4200" kern="1200" dirty="0"/>
            <a:t> pause</a:t>
          </a:r>
        </a:p>
      </dsp:txBody>
      <dsp:txXfrm>
        <a:off x="0" y="2212429"/>
        <a:ext cx="6291714" cy="1105876"/>
      </dsp:txXfrm>
    </dsp:sp>
    <dsp:sp modelId="{18D39591-C8CB-477A-B24A-70531F1AE3D0}">
      <dsp:nvSpPr>
        <dsp:cNvPr id="0" name=""/>
        <dsp:cNvSpPr/>
      </dsp:nvSpPr>
      <dsp:spPr>
        <a:xfrm>
          <a:off x="0" y="3318305"/>
          <a:ext cx="6291714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CB212-6DAA-4A10-B729-94E1FD65CBAD}">
      <dsp:nvSpPr>
        <dsp:cNvPr id="0" name=""/>
        <dsp:cNvSpPr/>
      </dsp:nvSpPr>
      <dsp:spPr>
        <a:xfrm>
          <a:off x="0" y="331830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Prædiktionsmodeller</a:t>
          </a:r>
          <a:endParaRPr lang="en-US" sz="4200" kern="1200" dirty="0"/>
        </a:p>
      </dsp:txBody>
      <dsp:txXfrm>
        <a:off x="0" y="3318305"/>
        <a:ext cx="6291714" cy="1105876"/>
      </dsp:txXfrm>
    </dsp:sp>
    <dsp:sp modelId="{20268FE9-77C9-4EC8-A43D-39FDE14E4F7F}">
      <dsp:nvSpPr>
        <dsp:cNvPr id="0" name=""/>
        <dsp:cNvSpPr/>
      </dsp:nvSpPr>
      <dsp:spPr>
        <a:xfrm>
          <a:off x="0" y="4424182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8EBEC-6195-41E4-876F-9D6EFBFAC6D2}">
      <dsp:nvSpPr>
        <dsp:cNvPr id="0" name=""/>
        <dsp:cNvSpPr/>
      </dsp:nvSpPr>
      <dsp:spPr>
        <a:xfrm>
          <a:off x="0" y="442418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Spørgsmål</a:t>
          </a:r>
          <a:r>
            <a:rPr lang="en-US" sz="4200" kern="1200" dirty="0"/>
            <a:t> </a:t>
          </a:r>
          <a:r>
            <a:rPr lang="en-US" sz="4200" kern="1200" dirty="0" err="1"/>
            <a:t>og</a:t>
          </a:r>
          <a:r>
            <a:rPr lang="en-US" sz="4200" kern="1200" dirty="0"/>
            <a:t> </a:t>
          </a:r>
          <a:r>
            <a:rPr lang="en-US" sz="4200" kern="1200" dirty="0" err="1"/>
            <a:t>evaluering</a:t>
          </a:r>
          <a:endParaRPr lang="en-US" sz="4200" kern="1200" dirty="0"/>
        </a:p>
      </dsp:txBody>
      <dsp:txXfrm>
        <a:off x="0" y="4424182"/>
        <a:ext cx="6291714" cy="1105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56939-B675-48EC-832C-1A67790AD94F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372562-EED8-45F3-9F76-7108979F30F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542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BCA25F-A812-5BF5-CC75-FE2D49721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69596A1-2665-CA37-F26C-72F0CA991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F14E2D5-C466-2F06-7CC0-9609E4B31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49EBB9D-792A-DBF8-2DA0-0A4BF096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5FA6FE1-D515-3CC5-2C71-6C4B63E6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362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3A612-4D72-3292-97AD-490B3E43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B7EAAF-8F0D-9AE9-4B02-1CD12DDC2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B3CA30-8E93-697B-E957-057B08B3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A2D868-6DED-6C19-0695-905C5D367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FD1369-BD30-9C80-355B-98B741AE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50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B1ED69-2EB6-48C3-7DFB-B5DDBE694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79038A8-A8BF-3BFD-FE81-888C50BBE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53D37FD-5F26-8A2C-45B1-54F96B1F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E25A5AF-D572-F4B1-D34D-4CDD3EA5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A10134E-B379-7C0D-8912-45075CD5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910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9716B8-779E-BD5E-B7F6-8E4D87FD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B32098-C6D9-139C-F38F-BFD7F6DE1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931E067-C0B2-979C-045F-307F6F2B5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2433440-FC08-0FD2-755E-C6F0773C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4FB4E68-DD21-631E-50A7-74710283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6DC0526-FAA1-4319-1C6E-50A295F4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417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C792D-05F5-FBB5-0F0F-90106023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E82149D-3BE7-AAB4-9888-07099BB39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3251EF3-203E-F5F4-C4B7-C8DEAC655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37CCC1ED-E323-FCC2-6AFE-0E4392F94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8168B0E7-B2CB-9673-5C97-2C32EF5E4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0952C73A-D2A5-EC48-9580-BDC878DD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A367848-67EC-8E49-E254-26E0306D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385F003-8FD8-3673-2C51-F4E19558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855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852CB-BDE5-2C28-7BFE-5D9F7248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B6AC977-61EA-D0E4-16DF-D58CBB2F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6B7B2F74-C6A2-1F01-D172-DE8AE3B8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A74FFD7-C22E-8962-61D6-9A346570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457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E678D7F-9D87-9EAF-B374-7A428BD6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5FC8C957-AD73-E2E7-0E1D-DC28D200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DF9BB1E-4B39-2A1F-62F4-913DCD3F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09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49C702-5A5F-E15A-739B-B5BFEC7A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88DC5D9-08B2-151C-DDD1-55B9BDEEB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7F79780-8573-1979-E328-1322002CF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3A59778-276B-6ACE-4085-104A586F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AEA618F-84DF-8501-1ED9-CCD0FA53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6B7C220-CE68-B10F-7B7C-7159B82D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6274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755B0-842A-7685-2411-4BAA2F482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F5D6E53-D073-A694-2AB4-8B761AC31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1B7C978-77A0-A4C3-26D0-04F473DBB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13675EF-041D-51ED-A2C7-3DED9B05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5C24839-A55A-811E-6D0B-082DBCF3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A44111A-8D8F-69ED-1EF7-88CFB4A5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074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FE628-45C8-CDCB-E98C-034815FA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EF6281E-6620-866A-CD9A-77906271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6A7E9FD-E6D9-2B3B-AF91-42FA6E81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B939013-21BB-32CF-D89D-CB66661F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2772FD-E232-01C6-7C0A-5A3059FD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863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F9C6B1AD-8B1C-9EE9-5E6A-F50CF0215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7017135-D469-9F0C-5781-8CE2EF845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5A2E234-32A3-3CC6-0AF8-856ACB54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396FB21-A282-88E0-669F-A32B5AED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E8632A-660A-1222-B2A2-0D8210C9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6593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41704A3-389D-CCFE-228E-7D6A7DC70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A0C4126-2004-F967-69CE-60F9D05C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A6FA2E3-ACA3-1E19-5FAA-DF1941697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AE6B9-E943-4EAF-A560-CBFA5357EA60}" type="datetimeFigureOut">
              <a:rPr lang="da-DK" smtClean="0"/>
              <a:t>05-05-2025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2AF0B26-D64C-1F08-1DB5-C9A328168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561D332-D377-A319-9354-BE70A5D77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140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-graph-gallery.com/index.html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9F863-0DA5-A9DE-E93D-CCE4CFBAF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R – </a:t>
            </a:r>
            <a:r>
              <a:rPr lang="en-US" dirty="0" err="1"/>
              <a:t>dag</a:t>
            </a:r>
            <a:r>
              <a:rPr lang="en-US" dirty="0"/>
              <a:t> 3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2B4F43F-4BE5-2F86-AB74-69EBC1C07C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Medium </a:t>
            </a:r>
            <a:r>
              <a:rPr lang="en-US" dirty="0" err="1"/>
              <a:t>avancerede</a:t>
            </a:r>
            <a:r>
              <a:rPr lang="en-US" dirty="0"/>
              <a:t> </a:t>
            </a:r>
            <a:r>
              <a:rPr lang="en-US" dirty="0" err="1"/>
              <a:t>analyser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308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495B9F-CEAA-C88E-7F78-7758B929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  <a:endParaRPr lang="da-DK">
              <a:solidFill>
                <a:srgbClr val="FFFFFF"/>
              </a:solidFill>
            </a:endParaRP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7C0F459-B1A2-7BE3-CF43-91DC17D7B3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2102435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790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79436-7255-BA41-2148-2F7E938D3F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Hot tip #1: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9297CDF-4085-8997-E7FF-C8F44B5898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Ggplot2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52A033AD-2F1F-136A-8EB8-17670E60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331" y="0"/>
            <a:ext cx="6985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8198B-F5C7-CECF-3FC2-ECEB86CD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Hvorfor</a:t>
            </a:r>
            <a:r>
              <a:rPr lang="en-US" dirty="0"/>
              <a:t> er ggplot2 smart? </a:t>
            </a:r>
            <a:endParaRPr lang="da-DK" dirty="0"/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D9EE6E27-78DF-86BF-8929-14DDBEBDA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3199" y="1853278"/>
            <a:ext cx="3931698" cy="4351338"/>
          </a:xfr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B58E4518-9560-B99B-997D-EF25343A38DD}"/>
              </a:ext>
            </a:extLst>
          </p:cNvPr>
          <p:cNvSpPr txBox="1"/>
          <p:nvPr/>
        </p:nvSpPr>
        <p:spPr>
          <a:xfrm>
            <a:off x="4149213" y="6331564"/>
            <a:ext cx="8455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https://statsinthewild.com/2019/08/22/ggplot2-vs-base-r-graphics-an-example/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488B6A0C-9999-3848-05F1-640322F9D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054" y="3323999"/>
            <a:ext cx="5753903" cy="1409897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F8DFEFC0-AA71-F4F7-1872-206B3B807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43" y="2853258"/>
            <a:ext cx="4772535" cy="2398022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ABA09D58-AA48-7BFF-8A6C-40F0A394F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1890" y="2741059"/>
            <a:ext cx="5090387" cy="251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9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F5CA3E-0205-AA3E-11D1-8798BBCD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Hvordan</a:t>
            </a:r>
            <a:r>
              <a:rPr lang="en-US" dirty="0"/>
              <a:t> burger man ggplot2?</a:t>
            </a:r>
            <a:endParaRPr lang="da-DK" dirty="0"/>
          </a:p>
        </p:txBody>
      </p:sp>
      <p:pic>
        <p:nvPicPr>
          <p:cNvPr id="1026" name="Picture 2" descr="Ggplot2 is a lot like Shrek! (grouped boxplot tutorial with pairwise  comparisons)">
            <a:extLst>
              <a:ext uri="{FF2B5EF4-FFF2-40B4-BE49-F238E27FC236}">
                <a16:creationId xmlns:a16="http://schemas.microsoft.com/office/drawing/2014/main" id="{45E3BC96-C414-B791-ADF5-CAD9F01EE9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2162969"/>
            <a:ext cx="65341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859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FB607-6D2E-C5BF-9C9E-DD9E53D70A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Øvelse</a:t>
            </a:r>
            <a:r>
              <a:rPr lang="en-US" dirty="0"/>
              <a:t> 6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67A5B4D-C76A-ECA9-85E3-C41F67416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Bonus tip:</a:t>
            </a:r>
          </a:p>
          <a:p>
            <a:r>
              <a:rPr lang="da-DK" dirty="0">
                <a:hlinkClick r:id="rId2"/>
              </a:rPr>
              <a:t>https://r-graph-gallery.com/index.html</a:t>
            </a:r>
            <a:r>
              <a:rPr lang="en-US" dirty="0"/>
              <a:t>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6476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68515-82D8-ED49-48EB-3CFD0E9E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Prædiktion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5FC05C-0B6C-24E7-8D9C-A50443153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</a:t>
            </a:r>
            <a:r>
              <a:rPr lang="en-US" dirty="0" err="1"/>
              <a:t>forudsige</a:t>
            </a:r>
            <a:r>
              <a:rPr lang="en-US" dirty="0"/>
              <a:t> et outcome </a:t>
            </a:r>
          </a:p>
          <a:p>
            <a:pPr lvl="1"/>
            <a:r>
              <a:rPr lang="en-US" dirty="0"/>
              <a:t>En </a:t>
            </a:r>
            <a:r>
              <a:rPr lang="en-US" dirty="0" err="1"/>
              <a:t>ny</a:t>
            </a:r>
            <a:r>
              <a:rPr lang="en-US" dirty="0"/>
              <a:t> test vs gold standard </a:t>
            </a:r>
          </a:p>
          <a:p>
            <a:pPr lvl="1"/>
            <a:r>
              <a:rPr lang="en-US" dirty="0" err="1"/>
              <a:t>Testresultat</a:t>
            </a:r>
            <a:r>
              <a:rPr lang="en-US" dirty="0"/>
              <a:t> vs sand </a:t>
            </a:r>
            <a:r>
              <a:rPr lang="en-US" dirty="0" err="1"/>
              <a:t>sygdom</a:t>
            </a:r>
            <a:endParaRPr lang="en-US" dirty="0"/>
          </a:p>
          <a:p>
            <a:pPr lvl="1"/>
            <a:r>
              <a:rPr lang="en-US" dirty="0" err="1"/>
              <a:t>Forudsige</a:t>
            </a:r>
            <a:r>
              <a:rPr lang="en-US" dirty="0"/>
              <a:t> </a:t>
            </a:r>
            <a:r>
              <a:rPr lang="en-US" dirty="0" err="1"/>
              <a:t>effekt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behandling</a:t>
            </a:r>
            <a:r>
              <a:rPr lang="en-US" dirty="0"/>
              <a:t> </a:t>
            </a:r>
          </a:p>
          <a:p>
            <a:pPr lvl="1"/>
            <a:r>
              <a:rPr lang="da-DK" dirty="0"/>
              <a:t>Forudsige hvem der bliver syge</a:t>
            </a:r>
          </a:p>
          <a:p>
            <a:r>
              <a:rPr lang="da-DK" dirty="0"/>
              <a:t>Evaluering af modeller</a:t>
            </a:r>
          </a:p>
          <a:p>
            <a:r>
              <a:rPr lang="da-DK" dirty="0"/>
              <a:t>Mange forskellige modeller – her kun et udpluk </a:t>
            </a:r>
          </a:p>
          <a:p>
            <a:r>
              <a:rPr lang="da-DK" dirty="0" err="1"/>
              <a:t>Disclaimer</a:t>
            </a:r>
            <a:r>
              <a:rPr lang="da-DK" dirty="0"/>
              <a:t>: Dette emne er gateway til at lave AI</a:t>
            </a:r>
          </a:p>
        </p:txBody>
      </p:sp>
    </p:spTree>
    <p:extLst>
      <p:ext uri="{BB962C8B-B14F-4D97-AF65-F5344CB8AC3E}">
        <p14:creationId xmlns:p14="http://schemas.microsoft.com/office/powerpoint/2010/main" val="45417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9D343B-A3DE-EABF-CCDB-2F011827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Vurdering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modeller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7348D7A-3817-3CB1-20F5-AABDFCE29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Continuert</a:t>
            </a:r>
            <a:endParaRPr lang="da-DK" dirty="0"/>
          </a:p>
          <a:p>
            <a:pPr lvl="1"/>
            <a:r>
              <a:rPr lang="da-DK" dirty="0"/>
              <a:t>R2, </a:t>
            </a:r>
            <a:r>
              <a:rPr lang="da-DK" dirty="0" err="1"/>
              <a:t>Justert</a:t>
            </a:r>
            <a:r>
              <a:rPr lang="da-DK" dirty="0"/>
              <a:t> R2</a:t>
            </a:r>
            <a:endParaRPr lang="en-US" dirty="0"/>
          </a:p>
          <a:p>
            <a:r>
              <a:rPr lang="en-US" dirty="0" err="1"/>
              <a:t>Binært</a:t>
            </a:r>
            <a:r>
              <a:rPr lang="en-US" dirty="0"/>
              <a:t> outcome: </a:t>
            </a:r>
          </a:p>
          <a:p>
            <a:pPr lvl="1"/>
            <a:r>
              <a:rPr lang="en-US" dirty="0"/>
              <a:t>Confusion matrix </a:t>
            </a:r>
          </a:p>
          <a:p>
            <a:pPr lvl="1"/>
            <a:r>
              <a:rPr lang="en-US" dirty="0"/>
              <a:t>ROC AUC / Concordance statistics</a:t>
            </a:r>
          </a:p>
          <a:p>
            <a:pPr lvl="1"/>
            <a:r>
              <a:rPr lang="en-US" dirty="0"/>
              <a:t>Mere </a:t>
            </a:r>
            <a:r>
              <a:rPr lang="en-US" dirty="0" err="1"/>
              <a:t>avancerede</a:t>
            </a:r>
            <a:r>
              <a:rPr lang="en-US" dirty="0"/>
              <a:t> </a:t>
            </a:r>
            <a:r>
              <a:rPr lang="en-US" dirty="0" err="1"/>
              <a:t>evalueringer</a:t>
            </a:r>
            <a:r>
              <a:rPr lang="en-US" dirty="0"/>
              <a:t> (Calibration-in-the-large, slope, intercept, net benefit, Reclassification table, etc.)</a:t>
            </a:r>
          </a:p>
          <a:p>
            <a:pPr lvl="1"/>
            <a:r>
              <a:rPr lang="en-US" dirty="0"/>
              <a:t>Fancy </a:t>
            </a:r>
            <a:r>
              <a:rPr lang="en-US" dirty="0" err="1"/>
              <a:t>tal</a:t>
            </a:r>
            <a:r>
              <a:rPr lang="en-US" dirty="0"/>
              <a:t> der minder om linear regression (Pseudo R2, R2 Brier, etc.)</a:t>
            </a:r>
          </a:p>
        </p:txBody>
      </p:sp>
    </p:spTree>
    <p:extLst>
      <p:ext uri="{BB962C8B-B14F-4D97-AF65-F5344CB8AC3E}">
        <p14:creationId xmlns:p14="http://schemas.microsoft.com/office/powerpoint/2010/main" val="412402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A9A979-E783-5B45-56D7-22B61F7F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Continuert</a:t>
            </a:r>
            <a:r>
              <a:rPr lang="en-US" dirty="0"/>
              <a:t> </a:t>
            </a:r>
            <a:r>
              <a:rPr lang="en-US" dirty="0" err="1"/>
              <a:t>prædiktion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AEBF3E2-678C-0891-2211-A5ADA5BCC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Linear regression (</a:t>
            </a:r>
            <a:r>
              <a:rPr lang="en-US" dirty="0" err="1"/>
              <a:t>mest</a:t>
            </a:r>
            <a:r>
              <a:rPr lang="en-US" dirty="0"/>
              <a:t> </a:t>
            </a:r>
            <a:r>
              <a:rPr lang="en-US" dirty="0" err="1"/>
              <a:t>almindelige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det de </a:t>
            </a:r>
            <a:r>
              <a:rPr lang="en-US" dirty="0" err="1"/>
              <a:t>fleste</a:t>
            </a:r>
            <a:r>
              <a:rPr lang="en-US" dirty="0"/>
              <a:t>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se)</a:t>
            </a:r>
          </a:p>
          <a:p>
            <a:r>
              <a:rPr lang="en-US" dirty="0"/>
              <a:t>Lasso / Ridge </a:t>
            </a:r>
            <a:r>
              <a:rPr lang="en-US" dirty="0" err="1"/>
              <a:t>Regresion</a:t>
            </a:r>
            <a:endParaRPr lang="en-US" dirty="0"/>
          </a:p>
          <a:p>
            <a:r>
              <a:rPr lang="en-US" dirty="0"/>
              <a:t>Mere fancy </a:t>
            </a:r>
            <a:r>
              <a:rPr lang="en-US" dirty="0" err="1"/>
              <a:t>kunne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Linear Support Vector Classifier</a:t>
            </a:r>
          </a:p>
          <a:p>
            <a:pPr lvl="1"/>
            <a:r>
              <a:rPr lang="en-US" dirty="0"/>
              <a:t>Naïve Bayes Classifier</a:t>
            </a:r>
          </a:p>
          <a:p>
            <a:pPr lvl="1"/>
            <a:r>
              <a:rPr lang="en-US" dirty="0"/>
              <a:t>Perceptron</a:t>
            </a:r>
          </a:p>
          <a:p>
            <a:pPr lvl="1"/>
            <a:r>
              <a:rPr lang="en-US" dirty="0"/>
              <a:t>Neural Network</a:t>
            </a:r>
          </a:p>
          <a:p>
            <a:pPr lvl="1"/>
            <a:r>
              <a:rPr lang="en-US" dirty="0"/>
              <a:t>Deep NN</a:t>
            </a:r>
          </a:p>
          <a:p>
            <a:pPr lvl="1"/>
            <a:r>
              <a:rPr lang="en-US" dirty="0"/>
              <a:t>Etc.. </a:t>
            </a:r>
          </a:p>
          <a:p>
            <a:r>
              <a:rPr lang="en-US" dirty="0"/>
              <a:t>Mange </a:t>
            </a:r>
            <a:r>
              <a:rPr lang="en-US" dirty="0" err="1"/>
              <a:t>binær</a:t>
            </a:r>
            <a:r>
              <a:rPr lang="en-US" dirty="0"/>
              <a:t> classifiers er </a:t>
            </a:r>
            <a:r>
              <a:rPr lang="en-US" dirty="0" err="1"/>
              <a:t>også</a:t>
            </a:r>
            <a:r>
              <a:rPr lang="en-US" dirty="0"/>
              <a:t> </a:t>
            </a:r>
            <a:r>
              <a:rPr lang="en-US" dirty="0" err="1"/>
              <a:t>continuerte</a:t>
            </a:r>
            <a:endParaRPr lang="en-US" dirty="0"/>
          </a:p>
          <a:p>
            <a:pPr lvl="1"/>
            <a:endParaRPr lang="en-US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11195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FA08B-111D-8539-CA2D-6C12E949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Binær</a:t>
            </a:r>
            <a:r>
              <a:rPr lang="en-US" dirty="0"/>
              <a:t> classification 	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159204E-E9E2-511C-FD6C-5F648058D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Uendeligt</a:t>
            </a:r>
            <a:r>
              <a:rPr lang="en-US" dirty="0"/>
              <a:t> mange modeler. </a:t>
            </a:r>
          </a:p>
          <a:p>
            <a:r>
              <a:rPr lang="en-US" dirty="0"/>
              <a:t>Vi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lege</a:t>
            </a:r>
            <a:r>
              <a:rPr lang="en-US" dirty="0"/>
              <a:t> med </a:t>
            </a:r>
            <a:r>
              <a:rPr lang="en-US" dirty="0" err="1"/>
              <a:t>logistisk</a:t>
            </a:r>
            <a:r>
              <a:rPr lang="en-US" dirty="0"/>
              <a:t> regression I </a:t>
            </a:r>
            <a:r>
              <a:rPr lang="en-US" dirty="0" err="1"/>
              <a:t>dag</a:t>
            </a:r>
            <a:endParaRPr lang="en-US" dirty="0"/>
          </a:p>
          <a:p>
            <a:r>
              <a:rPr lang="en-US" dirty="0"/>
              <a:t>Men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overføres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et </a:t>
            </a:r>
            <a:r>
              <a:rPr lang="en-US" dirty="0" err="1"/>
              <a:t>hav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forskellige</a:t>
            </a:r>
            <a:r>
              <a:rPr lang="en-US" dirty="0"/>
              <a:t> modeler. </a:t>
            </a: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2050" name="Picture 2" descr="Choosing the right estimator — scikit-learn 1.3.2 documentation">
            <a:extLst>
              <a:ext uri="{FF2B5EF4-FFF2-40B4-BE49-F238E27FC236}">
                <a16:creationId xmlns:a16="http://schemas.microsoft.com/office/drawing/2014/main" id="{221755B6-4296-CEE3-3181-DDEB3AF6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0"/>
            <a:ext cx="10999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16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B3B98-BBD8-6CF8-7C6B-DE550640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DFEE49C-3170-1176-367B-5AB4FD29E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Sammenligning</a:t>
            </a:r>
            <a:r>
              <a:rPr lang="en-US" dirty="0"/>
              <a:t> </a:t>
            </a:r>
            <a:r>
              <a:rPr lang="en-US" dirty="0" err="1"/>
              <a:t>mellem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binær</a:t>
            </a:r>
            <a:r>
              <a:rPr lang="en-US" dirty="0"/>
              <a:t> </a:t>
            </a:r>
            <a:r>
              <a:rPr lang="en-US" dirty="0" err="1"/>
              <a:t>prædiktion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binær</a:t>
            </a:r>
            <a:r>
              <a:rPr lang="en-US" dirty="0"/>
              <a:t> outcome</a:t>
            </a:r>
          </a:p>
          <a:p>
            <a:r>
              <a:rPr lang="en-US" dirty="0"/>
              <a:t>Nem at </a:t>
            </a:r>
            <a:r>
              <a:rPr lang="en-US" dirty="0" err="1"/>
              <a:t>forstå</a:t>
            </a:r>
            <a:r>
              <a:rPr lang="en-US" dirty="0"/>
              <a:t> – </a:t>
            </a:r>
            <a:r>
              <a:rPr lang="en-US" dirty="0" err="1"/>
              <a:t>svær</a:t>
            </a:r>
            <a:r>
              <a:rPr lang="en-US" dirty="0"/>
              <a:t> at </a:t>
            </a:r>
            <a:r>
              <a:rPr lang="en-US" dirty="0" err="1"/>
              <a:t>forholde</a:t>
            </a:r>
            <a:r>
              <a:rPr lang="en-US" dirty="0"/>
              <a:t> sig </a:t>
            </a:r>
            <a:r>
              <a:rPr lang="en-US" dirty="0" err="1"/>
              <a:t>til</a:t>
            </a:r>
            <a:endParaRPr lang="en-US" dirty="0"/>
          </a:p>
          <a:p>
            <a:r>
              <a:rPr lang="en-US" dirty="0"/>
              <a:t>Kan give </a:t>
            </a:r>
            <a:r>
              <a:rPr lang="en-US" dirty="0" err="1"/>
              <a:t>rigtig</a:t>
            </a:r>
            <a:r>
              <a:rPr lang="en-US" dirty="0"/>
              <a:t> mange </a:t>
            </a:r>
            <a:r>
              <a:rPr lang="en-US" dirty="0" err="1"/>
              <a:t>gode</a:t>
            </a:r>
            <a:r>
              <a:rPr lang="en-US" dirty="0"/>
              <a:t> </a:t>
            </a:r>
            <a:r>
              <a:rPr lang="en-US" dirty="0" err="1"/>
              <a:t>informationer</a:t>
            </a:r>
            <a:r>
              <a:rPr lang="en-US" dirty="0"/>
              <a:t> </a:t>
            </a:r>
            <a:r>
              <a:rPr lang="en-US" dirty="0" err="1"/>
              <a:t>ud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fire counts</a:t>
            </a:r>
            <a:endParaRPr lang="da-DK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DCDB1A98-E160-A640-C81B-F26DF50BA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77" y="0"/>
            <a:ext cx="10032846" cy="6858000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9D0A37A0-05F5-D653-251E-9754DB8496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015"/>
          <a:stretch/>
        </p:blipFill>
        <p:spPr>
          <a:xfrm>
            <a:off x="1079577" y="0"/>
            <a:ext cx="10032846" cy="4045226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68ED3144-8884-4550-41CE-C463A45246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495"/>
          <a:stretch/>
        </p:blipFill>
        <p:spPr>
          <a:xfrm>
            <a:off x="1079577" y="0"/>
            <a:ext cx="5669093" cy="6858000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272BEFDD-C799-4133-F488-6A138BCAC0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495" b="41015"/>
          <a:stretch/>
        </p:blipFill>
        <p:spPr>
          <a:xfrm>
            <a:off x="1079577" y="0"/>
            <a:ext cx="5669093" cy="4045226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69008084-B28C-3A9F-0ADB-1E2FBE63A6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495" b="18695"/>
          <a:stretch/>
        </p:blipFill>
        <p:spPr>
          <a:xfrm>
            <a:off x="1079577" y="0"/>
            <a:ext cx="5669093" cy="5575852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7C7CD5F9-97A0-27D6-EC89-498A5BE78B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709" b="41015"/>
          <a:stretch/>
        </p:blipFill>
        <p:spPr>
          <a:xfrm>
            <a:off x="1079577" y="0"/>
            <a:ext cx="7955093" cy="40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3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A487E0-82F3-7F58-F078-33770A59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/>
              <a:t>Receiver operating </a:t>
            </a:r>
            <a:r>
              <a:rPr lang="da-DK" sz="4000" dirty="0" err="1"/>
              <a:t>characteristic</a:t>
            </a:r>
            <a:r>
              <a:rPr lang="da-DK" sz="4000" dirty="0"/>
              <a:t> / </a:t>
            </a:r>
            <a:r>
              <a:rPr lang="da-DK" sz="4000" dirty="0" err="1"/>
              <a:t>Concordance</a:t>
            </a:r>
            <a:endParaRPr lang="da-DK" sz="4000" dirty="0"/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0BBC1D9B-FB3E-7794-75AF-9A0ADF8A1A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305" y="1690688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E0A86C03-2898-CEA9-A558-3AF872BB7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807" y="2510563"/>
            <a:ext cx="4351338" cy="230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205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D43001-9384-6F5F-D35B-ECD0F4E8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model evaluation </a:t>
            </a:r>
            <a:endParaRPr lang="da-DK" dirty="0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6A713102-2DCE-30F4-AF1C-8F3238B7F29E}"/>
              </a:ext>
            </a:extLst>
          </p:cNvPr>
          <p:cNvSpPr txBox="1"/>
          <p:nvPr/>
        </p:nvSpPr>
        <p:spPr>
          <a:xfrm>
            <a:off x="6756124" y="648866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https://pmc.ncbi.nlm.nih.gov/articles/PMC3575184/</a:t>
            </a:r>
          </a:p>
        </p:txBody>
      </p:sp>
      <p:pic>
        <p:nvPicPr>
          <p:cNvPr id="4098" name="Picture 2" descr="Calibration Plot • predtools">
            <a:extLst>
              <a:ext uri="{FF2B5EF4-FFF2-40B4-BE49-F238E27FC236}">
                <a16:creationId xmlns:a16="http://schemas.microsoft.com/office/drawing/2014/main" id="{959639DA-B1E1-5894-456D-30BDAEBBD0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561" y="2196547"/>
            <a:ext cx="5080439" cy="313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simple, step-by-step guide to interpreting decision curve analysis |  Diagnostic and Prognostic Research | Full Text">
            <a:extLst>
              <a:ext uri="{FF2B5EF4-FFF2-40B4-BE49-F238E27FC236}">
                <a16:creationId xmlns:a16="http://schemas.microsoft.com/office/drawing/2014/main" id="{168775D8-D87F-C0EC-F758-3CFAC2A57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123" y="2512524"/>
            <a:ext cx="3922436" cy="2823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828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C73A78-88F4-0793-E43C-B6F45C709C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Øvelse</a:t>
            </a:r>
            <a:r>
              <a:rPr lang="en-US" dirty="0"/>
              <a:t> 7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F593DF2-E945-2E2C-66F7-220EBE83E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Sidste</a:t>
            </a:r>
            <a:r>
              <a:rPr lang="en-US" dirty="0"/>
              <a:t> </a:t>
            </a:r>
            <a:r>
              <a:rPr lang="en-US" dirty="0" err="1"/>
              <a:t>øvelse</a:t>
            </a:r>
            <a:r>
              <a:rPr lang="en-US" dirty="0"/>
              <a:t> for </a:t>
            </a:r>
            <a:r>
              <a:rPr lang="en-US" dirty="0" err="1"/>
              <a:t>denne</a:t>
            </a:r>
            <a:r>
              <a:rPr lang="en-US" dirty="0"/>
              <a:t> gang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27287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FAB8A-21E7-971A-F26C-8C7ACF975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B66B7B-83B9-C806-E956-260765FDB1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Spørgsmål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evaluering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5505C05-9762-86C6-811A-A4D48CF1D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81543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3897</TotalTime>
  <Words>292</Words>
  <Application>Microsoft Office PowerPoint</Application>
  <PresentationFormat>Widescreen</PresentationFormat>
  <Paragraphs>58</Paragraphs>
  <Slides>15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Office-tema</vt:lpstr>
      <vt:lpstr>Basic R – dag 3</vt:lpstr>
      <vt:lpstr>Agenda</vt:lpstr>
      <vt:lpstr>Hot tip #1:</vt:lpstr>
      <vt:lpstr>Hvorfor er ggplot2 smart? </vt:lpstr>
      <vt:lpstr>Hvordan burger man ggplot2?</vt:lpstr>
      <vt:lpstr>Øvelse 6</vt:lpstr>
      <vt:lpstr>Prædiktion</vt:lpstr>
      <vt:lpstr>Vurdering af modeller</vt:lpstr>
      <vt:lpstr>Continuert prædiktion</vt:lpstr>
      <vt:lpstr>Binær classification  </vt:lpstr>
      <vt:lpstr>Confusion matrix</vt:lpstr>
      <vt:lpstr>Receiver operating characteristic / Concordance</vt:lpstr>
      <vt:lpstr>Advanced model evaluation </vt:lpstr>
      <vt:lpstr>Øvelse 7</vt:lpstr>
      <vt:lpstr>Spørgsmål og evaluering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Kaasgaard Sperling</dc:creator>
  <cp:lastModifiedBy>Phillip Kaasgaard Sperling</cp:lastModifiedBy>
  <cp:revision>12</cp:revision>
  <dcterms:created xsi:type="dcterms:W3CDTF">2024-09-15T18:08:56Z</dcterms:created>
  <dcterms:modified xsi:type="dcterms:W3CDTF">2025-05-05T19:44:47Z</dcterms:modified>
</cp:coreProperties>
</file>